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99" r:id="rId2"/>
    <p:sldId id="305" r:id="rId3"/>
    <p:sldId id="306" r:id="rId4"/>
    <p:sldId id="307" r:id="rId5"/>
    <p:sldId id="303" r:id="rId6"/>
  </p:sldIdLst>
  <p:sldSz cx="14630400" cy="82296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A70"/>
    <a:srgbClr val="253B6F"/>
    <a:srgbClr val="F29B80"/>
    <a:srgbClr val="A58BBB"/>
    <a:srgbClr val="A7D3C2"/>
    <a:srgbClr val="273C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81500D-2502-4585-89D2-5C97AA23AB98}" v="328" dt="2026-07-14T19:06:45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23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14802791-8038-454B-B081-A1AF38AB8EF8}" type="datetimeFigureOut">
              <a:rPr lang="de-DE" smtClean="0"/>
              <a:t>14.07.2026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10B30F4-091B-4F73-B815-B72BCD6772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3812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B30F4-091B-4F73-B815-B72BCD67724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2526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B30F4-091B-4F73-B815-B72BCD67724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5854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DAB6-FA0A-BEE8-EE41-90C3450B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48B3747-F948-FC35-2DD9-4B785E938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C02432D-5BAB-7D96-941E-278352137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 Min Demo Pitch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0818A1-F663-B0EA-7801-8EF12E811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B30F4-091B-4F73-B815-B72BCD67724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1327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88188-2E50-8BAD-9DAB-BA79D0CAA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0895E41-DF60-7AD4-A48A-57CD7B85B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0B6553-792B-7AFD-94E9-87889F12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1DA0D3-B987-FCC7-CF59-0CA16D62A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4E40BA-24DA-F4D1-AF93-306DC2BE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265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87FD26-54FC-650C-3FDD-93CDF60EF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6ABFFC-5280-7572-87C5-2B1210366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C9581B-C203-F9ED-723D-077C33F0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36D8E3-02F4-58C5-768D-BDC419AD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90E082-6EE2-F41C-6302-C8593E142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96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FED211-8946-1AA0-536E-65316219A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BD5E7B-431D-6F21-3590-DADBC77D6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6E4D43-61BA-91EE-BFF4-26DCE5B07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981E3B-CF00-0D43-32CB-08ED9926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0B058A-1741-D4D1-07BC-6DD77805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423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715C3C-AA4B-F66D-C912-9BACA14C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9F34DF-6366-5121-7270-C040EAFAC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006E94F-B3CA-C81A-2FB1-EE1BFE8EA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3432F08-E73F-0AD4-04BA-42FEC92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33F279-F50F-85C2-1D1B-11F2E172C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394F7C-82D1-BF3B-5694-18F566A6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4800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750B88-B28E-DD68-7399-085EC6993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80FB82-8D1D-F924-8C92-29C517255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82EA91-819E-22CA-C35C-0B2056FD9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DFCF98-6295-FDEE-086B-5028DCDD5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511164E-D7CA-3A92-A063-19C6A4BB3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2C0C0F2-8AF8-8555-5116-FA15D36BE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62DE5E5-D90B-E654-545C-0170FC3A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1B6F3C1-1344-E3AE-094D-2F8A81E40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272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Ellipse 94">
            <a:extLst>
              <a:ext uri="{FF2B5EF4-FFF2-40B4-BE49-F238E27FC236}">
                <a16:creationId xmlns:a16="http://schemas.microsoft.com/office/drawing/2014/main" id="{10CF735F-82C1-3FFD-CC2D-1F8F3CCE7346}"/>
              </a:ext>
            </a:extLst>
          </p:cNvPr>
          <p:cNvSpPr/>
          <p:nvPr userDrawn="1"/>
        </p:nvSpPr>
        <p:spPr>
          <a:xfrm>
            <a:off x="89663" y="178622"/>
            <a:ext cx="938274" cy="938274"/>
          </a:xfrm>
          <a:prstGeom prst="ellipse">
            <a:avLst/>
          </a:prstGeom>
          <a:solidFill>
            <a:srgbClr val="A7D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FA4515DC-1990-CB24-9614-217F3C28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1260"/>
            <a:ext cx="10515600" cy="604895"/>
          </a:xfrm>
          <a:noFill/>
        </p:spPr>
        <p:txBody>
          <a:bodyPr wrap="square" lIns="0" tIns="0" rIns="0" bIns="0" anchor="t">
            <a:noAutofit/>
          </a:bodyPr>
          <a:lstStyle>
            <a:lvl1pPr>
              <a:defRPr lang="de-DE" sz="3600" b="1" dirty="0">
                <a:solidFill>
                  <a:srgbClr val="263A70"/>
                </a:solidFill>
                <a:latin typeface="Aptos"/>
                <a:ea typeface="+mn-ea"/>
                <a:cs typeface="+mn-cs"/>
              </a:defRPr>
            </a:lvl1pPr>
          </a:lstStyle>
          <a:p>
            <a:pPr marL="0" lvl="0">
              <a:spcAft>
                <a:spcPts val="0"/>
              </a:spcAft>
            </a:pPr>
            <a:r>
              <a:rPr lang="de-DE"/>
              <a:t>Mastertitelformat bearbeiten</a:t>
            </a:r>
          </a:p>
        </p:txBody>
      </p:sp>
      <p:sp>
        <p:nvSpPr>
          <p:cNvPr id="115" name="Textplatzhalter 114">
            <a:extLst>
              <a:ext uri="{FF2B5EF4-FFF2-40B4-BE49-F238E27FC236}">
                <a16:creationId xmlns:a16="http://schemas.microsoft.com/office/drawing/2014/main" id="{27770890-0631-6E7B-6ED8-357A5FC88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5471" y="1342479"/>
            <a:ext cx="5681663" cy="297046"/>
          </a:xfrm>
          <a:noFill/>
        </p:spPr>
        <p:txBody>
          <a:bodyPr wrap="square" lIns="0" tIns="0" rIns="0" bIns="0" anchor="t">
            <a:noAutofit/>
          </a:bodyPr>
          <a:lstStyle>
            <a:lvl1pPr>
              <a:buNone/>
              <a:defRPr lang="de-DE" sz="1800" b="1" smtClean="0">
                <a:solidFill>
                  <a:srgbClr val="FF9B7E"/>
                </a:solidFill>
                <a:latin typeface="Aptos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0" lvl="0"/>
            <a:r>
              <a:rPr lang="de-DE"/>
              <a:t>Mastertextformat bearbeiten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634E36A3-3167-78F7-4F7B-1633565450FD}"/>
              </a:ext>
            </a:extLst>
          </p:cNvPr>
          <p:cNvSpPr/>
          <p:nvPr userDrawn="1"/>
        </p:nvSpPr>
        <p:spPr>
          <a:xfrm>
            <a:off x="12084557" y="-227162"/>
            <a:ext cx="938274" cy="938274"/>
          </a:xfrm>
          <a:prstGeom prst="ellipse">
            <a:avLst/>
          </a:prstGeom>
          <a:solidFill>
            <a:srgbClr val="F29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DBDA313E-8371-BAE3-C6E0-57C1A9D535D3}"/>
              </a:ext>
            </a:extLst>
          </p:cNvPr>
          <p:cNvSpPr/>
          <p:nvPr userDrawn="1"/>
        </p:nvSpPr>
        <p:spPr>
          <a:xfrm>
            <a:off x="12389357" y="6126373"/>
            <a:ext cx="938274" cy="938274"/>
          </a:xfrm>
          <a:prstGeom prst="ellipse">
            <a:avLst/>
          </a:prstGeom>
          <a:solidFill>
            <a:srgbClr val="A58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0752F4C2-D75C-4E03-E376-C7A83DFF6761}"/>
              </a:ext>
            </a:extLst>
          </p:cNvPr>
          <p:cNvSpPr/>
          <p:nvPr userDrawn="1"/>
        </p:nvSpPr>
        <p:spPr>
          <a:xfrm>
            <a:off x="11635736" y="952931"/>
            <a:ext cx="655320" cy="655320"/>
          </a:xfrm>
          <a:prstGeom prst="ellipse">
            <a:avLst/>
          </a:prstGeom>
          <a:solidFill>
            <a:srgbClr val="A7D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917B1E03-7A24-3004-0502-324AAD840771}"/>
              </a:ext>
            </a:extLst>
          </p:cNvPr>
          <p:cNvSpPr/>
          <p:nvPr userDrawn="1"/>
        </p:nvSpPr>
        <p:spPr>
          <a:xfrm>
            <a:off x="12459459" y="2415640"/>
            <a:ext cx="655320" cy="655320"/>
          </a:xfrm>
          <a:prstGeom prst="ellipse">
            <a:avLst/>
          </a:prstGeom>
          <a:solidFill>
            <a:srgbClr val="F29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809DDEE-E5C6-1CFD-5689-BF5B87AD6E0C}"/>
              </a:ext>
            </a:extLst>
          </p:cNvPr>
          <p:cNvSpPr/>
          <p:nvPr userDrawn="1"/>
        </p:nvSpPr>
        <p:spPr>
          <a:xfrm>
            <a:off x="12459459" y="3829070"/>
            <a:ext cx="655320" cy="655320"/>
          </a:xfrm>
          <a:prstGeom prst="ellipse">
            <a:avLst/>
          </a:prstGeom>
          <a:solidFill>
            <a:srgbClr val="A58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058D61F5-991F-5571-2BAC-897F5B099EF0}"/>
              </a:ext>
            </a:extLst>
          </p:cNvPr>
          <p:cNvSpPr/>
          <p:nvPr userDrawn="1"/>
        </p:nvSpPr>
        <p:spPr>
          <a:xfrm>
            <a:off x="11734037" y="5323563"/>
            <a:ext cx="655320" cy="655320"/>
          </a:xfrm>
          <a:prstGeom prst="ellipse">
            <a:avLst/>
          </a:prstGeom>
          <a:solidFill>
            <a:srgbClr val="A7D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0FA27FFD-391A-922F-B8F4-0DAB3BC5B9C4}"/>
              </a:ext>
            </a:extLst>
          </p:cNvPr>
          <p:cNvSpPr/>
          <p:nvPr userDrawn="1"/>
        </p:nvSpPr>
        <p:spPr>
          <a:xfrm>
            <a:off x="11248134" y="7003897"/>
            <a:ext cx="655320" cy="655320"/>
          </a:xfrm>
          <a:prstGeom prst="ellipse">
            <a:avLst/>
          </a:prstGeom>
          <a:solidFill>
            <a:srgbClr val="A7D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07529351-3C86-6A87-4DF1-0404698E396C}"/>
              </a:ext>
            </a:extLst>
          </p:cNvPr>
          <p:cNvSpPr/>
          <p:nvPr userDrawn="1"/>
        </p:nvSpPr>
        <p:spPr>
          <a:xfrm>
            <a:off x="11260834" y="-554822"/>
            <a:ext cx="655320" cy="655320"/>
          </a:xfrm>
          <a:prstGeom prst="ellipse">
            <a:avLst/>
          </a:prstGeom>
          <a:solidFill>
            <a:srgbClr val="A58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F6986ED4-7FD6-2A06-8DCD-B72B5019A50B}"/>
              </a:ext>
            </a:extLst>
          </p:cNvPr>
          <p:cNvSpPr/>
          <p:nvPr userDrawn="1"/>
        </p:nvSpPr>
        <p:spPr>
          <a:xfrm>
            <a:off x="10616943" y="100498"/>
            <a:ext cx="475488" cy="475488"/>
          </a:xfrm>
          <a:prstGeom prst="ellipse">
            <a:avLst/>
          </a:prstGeom>
          <a:solidFill>
            <a:srgbClr val="F29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3136D76A-62F4-EAB6-D346-DA4E805476E8}"/>
              </a:ext>
            </a:extLst>
          </p:cNvPr>
          <p:cNvSpPr/>
          <p:nvPr userDrawn="1"/>
        </p:nvSpPr>
        <p:spPr>
          <a:xfrm>
            <a:off x="11258549" y="1639524"/>
            <a:ext cx="475488" cy="475488"/>
          </a:xfrm>
          <a:prstGeom prst="ellipse">
            <a:avLst/>
          </a:prstGeom>
          <a:solidFill>
            <a:srgbClr val="A58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2843168C-B2E1-3CA7-792E-04992CD2FC5E}"/>
              </a:ext>
            </a:extLst>
          </p:cNvPr>
          <p:cNvSpPr/>
          <p:nvPr userDrawn="1"/>
        </p:nvSpPr>
        <p:spPr>
          <a:xfrm>
            <a:off x="11356846" y="4547444"/>
            <a:ext cx="475488" cy="475488"/>
          </a:xfrm>
          <a:prstGeom prst="ellipse">
            <a:avLst/>
          </a:prstGeom>
          <a:solidFill>
            <a:srgbClr val="F29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CB00FBBC-BF92-A25B-35F7-115B141F2C7A}"/>
              </a:ext>
            </a:extLst>
          </p:cNvPr>
          <p:cNvSpPr/>
          <p:nvPr userDrawn="1"/>
        </p:nvSpPr>
        <p:spPr>
          <a:xfrm>
            <a:off x="10823699" y="6207185"/>
            <a:ext cx="475488" cy="475488"/>
          </a:xfrm>
          <a:prstGeom prst="ellipse">
            <a:avLst/>
          </a:prstGeom>
          <a:solidFill>
            <a:srgbClr val="A58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9340D671-C730-00B5-4DE6-E0C3684C197F}"/>
              </a:ext>
            </a:extLst>
          </p:cNvPr>
          <p:cNvSpPr/>
          <p:nvPr userDrawn="1"/>
        </p:nvSpPr>
        <p:spPr>
          <a:xfrm>
            <a:off x="10604243" y="7415464"/>
            <a:ext cx="475488" cy="475488"/>
          </a:xfrm>
          <a:prstGeom prst="ellipse">
            <a:avLst/>
          </a:prstGeom>
          <a:solidFill>
            <a:srgbClr val="A58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4541F21E-1A13-23AD-EA90-4192EEA79C58}"/>
              </a:ext>
            </a:extLst>
          </p:cNvPr>
          <p:cNvSpPr/>
          <p:nvPr userDrawn="1"/>
        </p:nvSpPr>
        <p:spPr>
          <a:xfrm>
            <a:off x="10616943" y="-978922"/>
            <a:ext cx="475488" cy="475488"/>
          </a:xfrm>
          <a:prstGeom prst="ellipse">
            <a:avLst/>
          </a:prstGeom>
          <a:solidFill>
            <a:srgbClr val="A58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9FB25FCD-A6A2-425F-C436-203CFAA2318F}"/>
              </a:ext>
            </a:extLst>
          </p:cNvPr>
          <p:cNvSpPr/>
          <p:nvPr userDrawn="1"/>
        </p:nvSpPr>
        <p:spPr>
          <a:xfrm>
            <a:off x="13327631" y="-209657"/>
            <a:ext cx="938274" cy="938274"/>
          </a:xfrm>
          <a:prstGeom prst="ellipse">
            <a:avLst/>
          </a:prstGeom>
          <a:solidFill>
            <a:srgbClr val="A7D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316BD897-B1FD-5425-C5C7-BF63350E6F91}"/>
              </a:ext>
            </a:extLst>
          </p:cNvPr>
          <p:cNvSpPr/>
          <p:nvPr userDrawn="1"/>
        </p:nvSpPr>
        <p:spPr>
          <a:xfrm>
            <a:off x="10027154" y="6682673"/>
            <a:ext cx="475488" cy="475488"/>
          </a:xfrm>
          <a:prstGeom prst="ellipse">
            <a:avLst/>
          </a:prstGeom>
          <a:solidFill>
            <a:srgbClr val="F29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5678B2E9-8FC3-C713-5B51-A4D73FE473E0}"/>
              </a:ext>
            </a:extLst>
          </p:cNvPr>
          <p:cNvSpPr/>
          <p:nvPr userDrawn="1"/>
        </p:nvSpPr>
        <p:spPr>
          <a:xfrm>
            <a:off x="9776710" y="-374990"/>
            <a:ext cx="475488" cy="475488"/>
          </a:xfrm>
          <a:prstGeom prst="ellipse">
            <a:avLst/>
          </a:prstGeom>
          <a:solidFill>
            <a:srgbClr val="A7D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6" name="Grafik 85">
            <a:extLst>
              <a:ext uri="{FF2B5EF4-FFF2-40B4-BE49-F238E27FC236}">
                <a16:creationId xmlns:a16="http://schemas.microsoft.com/office/drawing/2014/main" id="{F56BBB7C-2005-11F9-6E73-323631B1E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5322" y="2524612"/>
            <a:ext cx="1600494" cy="1600494"/>
          </a:xfrm>
          <a:prstGeom prst="rect">
            <a:avLst/>
          </a:prstGeom>
        </p:spPr>
      </p:pic>
      <p:sp>
        <p:nvSpPr>
          <p:cNvPr id="88" name="Ellipse 87">
            <a:extLst>
              <a:ext uri="{FF2B5EF4-FFF2-40B4-BE49-F238E27FC236}">
                <a16:creationId xmlns:a16="http://schemas.microsoft.com/office/drawing/2014/main" id="{906A6C4C-4FF1-A0FA-46A2-4CCDD0797884}"/>
              </a:ext>
            </a:extLst>
          </p:cNvPr>
          <p:cNvSpPr/>
          <p:nvPr userDrawn="1"/>
        </p:nvSpPr>
        <p:spPr>
          <a:xfrm>
            <a:off x="12738863" y="1408131"/>
            <a:ext cx="938274" cy="938274"/>
          </a:xfrm>
          <a:prstGeom prst="ellipse">
            <a:avLst/>
          </a:prstGeom>
          <a:solidFill>
            <a:srgbClr val="A58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  <p:sp>
        <p:nvSpPr>
          <p:cNvPr id="89" name="Ellipse 88">
            <a:extLst>
              <a:ext uri="{FF2B5EF4-FFF2-40B4-BE49-F238E27FC236}">
                <a16:creationId xmlns:a16="http://schemas.microsoft.com/office/drawing/2014/main" id="{172390D0-1EF5-C61E-255F-BC2DE208DD3E}"/>
              </a:ext>
            </a:extLst>
          </p:cNvPr>
          <p:cNvSpPr/>
          <p:nvPr userDrawn="1"/>
        </p:nvSpPr>
        <p:spPr>
          <a:xfrm>
            <a:off x="13295882" y="2980879"/>
            <a:ext cx="938274" cy="938274"/>
          </a:xfrm>
          <a:prstGeom prst="ellipse">
            <a:avLst/>
          </a:prstGeom>
          <a:solidFill>
            <a:srgbClr val="A7D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  <p:sp>
        <p:nvSpPr>
          <p:cNvPr id="90" name="Ellipse 89">
            <a:extLst>
              <a:ext uri="{FF2B5EF4-FFF2-40B4-BE49-F238E27FC236}">
                <a16:creationId xmlns:a16="http://schemas.microsoft.com/office/drawing/2014/main" id="{73986867-AD62-4A9E-B0F9-0E86596937FB}"/>
              </a:ext>
            </a:extLst>
          </p:cNvPr>
          <p:cNvSpPr/>
          <p:nvPr userDrawn="1"/>
        </p:nvSpPr>
        <p:spPr>
          <a:xfrm>
            <a:off x="12837160" y="4508585"/>
            <a:ext cx="938274" cy="938274"/>
          </a:xfrm>
          <a:prstGeom prst="ellipse">
            <a:avLst/>
          </a:prstGeom>
          <a:solidFill>
            <a:srgbClr val="F29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  <p:sp>
        <p:nvSpPr>
          <p:cNvPr id="107" name="Datumsplatzhalter 106">
            <a:extLst>
              <a:ext uri="{FF2B5EF4-FFF2-40B4-BE49-F238E27FC236}">
                <a16:creationId xmlns:a16="http://schemas.microsoft.com/office/drawing/2014/main" id="{B3D25213-2DC2-0781-3200-AB728FD2494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89663" y="7864475"/>
            <a:ext cx="2743200" cy="365125"/>
          </a:xfrm>
        </p:spPr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108" name="Fußzeilenplatzhalter 107">
            <a:extLst>
              <a:ext uri="{FF2B5EF4-FFF2-40B4-BE49-F238E27FC236}">
                <a16:creationId xmlns:a16="http://schemas.microsoft.com/office/drawing/2014/main" id="{C42C880F-4E3D-330F-FE6C-93037E775BD9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991733" y="7858526"/>
            <a:ext cx="4114800" cy="365125"/>
          </a:xfrm>
        </p:spPr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109" name="Foliennummernplatzhalter 108">
            <a:extLst>
              <a:ext uri="{FF2B5EF4-FFF2-40B4-BE49-F238E27FC236}">
                <a16:creationId xmlns:a16="http://schemas.microsoft.com/office/drawing/2014/main" id="{50009DD9-B68A-BACC-0866-6E1AC973ABB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845080" y="7840418"/>
            <a:ext cx="2743200" cy="365125"/>
          </a:xfrm>
        </p:spPr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  <p:sp>
        <p:nvSpPr>
          <p:cNvPr id="119" name="Textplatzhalter 118">
            <a:extLst>
              <a:ext uri="{FF2B5EF4-FFF2-40B4-BE49-F238E27FC236}">
                <a16:creationId xmlns:a16="http://schemas.microsoft.com/office/drawing/2014/main" id="{5AA202B3-21CD-CF54-7469-C758606D1F26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835471" y="1664107"/>
            <a:ext cx="7943850" cy="1504579"/>
          </a:xfrm>
          <a:noFill/>
        </p:spPr>
        <p:txBody>
          <a:bodyPr wrap="square" lIns="0" tIns="0" rIns="0" bIns="0" anchor="t">
            <a:spAutoFit/>
          </a:bodyPr>
          <a:lstStyle>
            <a:lvl1pPr>
              <a:defRPr lang="de-DE" sz="1800" b="0" dirty="0" smtClean="0">
                <a:solidFill>
                  <a:srgbClr val="263A70"/>
                </a:solidFill>
                <a:latin typeface="Aptos"/>
              </a:defRPr>
            </a:lvl1pPr>
            <a:lvl2pPr>
              <a:defRPr lang="de-DE" sz="1800" b="0" kern="1200" dirty="0" smtClean="0">
                <a:solidFill>
                  <a:srgbClr val="263A70"/>
                </a:solidFill>
                <a:latin typeface="Aptos"/>
                <a:ea typeface="+mn-ea"/>
                <a:cs typeface="+mn-cs"/>
              </a:defRPr>
            </a:lvl2pPr>
            <a:lvl3pPr>
              <a:defRPr lang="de-DE" sz="1800" b="0" kern="1200" dirty="0" smtClean="0">
                <a:solidFill>
                  <a:srgbClr val="263A70"/>
                </a:solidFill>
                <a:latin typeface="Aptos"/>
                <a:ea typeface="+mn-ea"/>
                <a:cs typeface="+mn-cs"/>
              </a:defRPr>
            </a:lvl3pPr>
            <a:lvl4pPr>
              <a:defRPr lang="de-DE" sz="1800" b="0" kern="1200" dirty="0" smtClean="0">
                <a:solidFill>
                  <a:srgbClr val="263A70"/>
                </a:solidFill>
                <a:latin typeface="Aptos"/>
                <a:ea typeface="+mn-ea"/>
                <a:cs typeface="+mn-cs"/>
              </a:defRPr>
            </a:lvl4pPr>
            <a:lvl5pPr>
              <a:defRPr lang="de-DE" sz="1800" b="0" kern="1200" dirty="0" smtClean="0">
                <a:solidFill>
                  <a:srgbClr val="263A70"/>
                </a:solidFill>
                <a:latin typeface="Aptos"/>
                <a:ea typeface="+mn-ea"/>
                <a:cs typeface="+mn-cs"/>
              </a:defRPr>
            </a:lvl5pPr>
          </a:lstStyle>
          <a:p>
            <a:pPr marL="0" lvl="0">
              <a:spcAft>
                <a:spcPts val="0"/>
              </a:spcAft>
            </a:pPr>
            <a:r>
              <a:rPr lang="de-DE"/>
              <a:t>Mastertextformat bearbeiten</a:t>
            </a:r>
          </a:p>
          <a:p>
            <a:pPr marL="457200" lvl="1"/>
            <a:r>
              <a:rPr lang="de-DE"/>
              <a:t>Zweite Ebene</a:t>
            </a:r>
          </a:p>
          <a:p>
            <a:pPr marL="914400" lvl="2"/>
            <a:r>
              <a:rPr lang="de-DE"/>
              <a:t>Dritte Ebene</a:t>
            </a:r>
          </a:p>
          <a:p>
            <a:pPr marL="1371600" lvl="3"/>
            <a:r>
              <a:rPr lang="de-DE"/>
              <a:t>Vierte Ebene</a:t>
            </a:r>
          </a:p>
          <a:p>
            <a:pPr marL="1828800"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263709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Ellipse 94">
            <a:extLst>
              <a:ext uri="{FF2B5EF4-FFF2-40B4-BE49-F238E27FC236}">
                <a16:creationId xmlns:a16="http://schemas.microsoft.com/office/drawing/2014/main" id="{10CF735F-82C1-3FFD-CC2D-1F8F3CCE7346}"/>
              </a:ext>
            </a:extLst>
          </p:cNvPr>
          <p:cNvSpPr/>
          <p:nvPr userDrawn="1"/>
        </p:nvSpPr>
        <p:spPr>
          <a:xfrm>
            <a:off x="89663" y="178622"/>
            <a:ext cx="938274" cy="938274"/>
          </a:xfrm>
          <a:prstGeom prst="ellipse">
            <a:avLst/>
          </a:prstGeom>
          <a:solidFill>
            <a:srgbClr val="A7D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FA4515DC-1990-CB24-9614-217F3C28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1260"/>
            <a:ext cx="10515600" cy="604895"/>
          </a:xfrm>
          <a:noFill/>
        </p:spPr>
        <p:txBody>
          <a:bodyPr wrap="square" lIns="0" tIns="0" rIns="0" bIns="0" anchor="t">
            <a:noAutofit/>
          </a:bodyPr>
          <a:lstStyle>
            <a:lvl1pPr>
              <a:defRPr lang="de-DE" sz="3600" b="1" dirty="0">
                <a:solidFill>
                  <a:srgbClr val="263A70"/>
                </a:solidFill>
                <a:latin typeface="Aptos"/>
                <a:ea typeface="+mn-ea"/>
                <a:cs typeface="+mn-cs"/>
              </a:defRPr>
            </a:lvl1pPr>
          </a:lstStyle>
          <a:p>
            <a:pPr marL="0" lvl="0">
              <a:spcAft>
                <a:spcPts val="0"/>
              </a:spcAft>
            </a:pPr>
            <a:r>
              <a:rPr lang="de-DE"/>
              <a:t>Mastertitelformat bearbeiten</a:t>
            </a:r>
          </a:p>
        </p:txBody>
      </p:sp>
      <p:sp>
        <p:nvSpPr>
          <p:cNvPr id="115" name="Textplatzhalter 114">
            <a:extLst>
              <a:ext uri="{FF2B5EF4-FFF2-40B4-BE49-F238E27FC236}">
                <a16:creationId xmlns:a16="http://schemas.microsoft.com/office/drawing/2014/main" id="{27770890-0631-6E7B-6ED8-357A5FC88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5471" y="1342479"/>
            <a:ext cx="5681663" cy="297046"/>
          </a:xfrm>
          <a:noFill/>
        </p:spPr>
        <p:txBody>
          <a:bodyPr wrap="square" lIns="0" tIns="0" rIns="0" bIns="0" anchor="t">
            <a:noAutofit/>
          </a:bodyPr>
          <a:lstStyle>
            <a:lvl1pPr>
              <a:buNone/>
              <a:defRPr lang="de-DE" sz="1600" b="1" smtClean="0">
                <a:solidFill>
                  <a:srgbClr val="FF9B7E"/>
                </a:solidFill>
                <a:latin typeface="Aptos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0" lvl="0"/>
            <a:r>
              <a:rPr lang="de-DE"/>
              <a:t>Mastertextformat bearbeiten</a:t>
            </a:r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526BD542-ED28-924F-ACB4-C100E2D4FE20}"/>
              </a:ext>
            </a:extLst>
          </p:cNvPr>
          <p:cNvGrpSpPr/>
          <p:nvPr userDrawn="1"/>
        </p:nvGrpSpPr>
        <p:grpSpPr>
          <a:xfrm>
            <a:off x="9776710" y="-978922"/>
            <a:ext cx="4489195" cy="8869874"/>
            <a:chOff x="9776710" y="-978922"/>
            <a:chExt cx="4489195" cy="8869874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634E36A3-3167-78F7-4F7B-1633565450FD}"/>
                </a:ext>
              </a:extLst>
            </p:cNvPr>
            <p:cNvSpPr/>
            <p:nvPr userDrawn="1"/>
          </p:nvSpPr>
          <p:spPr>
            <a:xfrm>
              <a:off x="12084557" y="-227162"/>
              <a:ext cx="938274" cy="938274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DBDA313E-8371-BAE3-C6E0-57C1A9D535D3}"/>
                </a:ext>
              </a:extLst>
            </p:cNvPr>
            <p:cNvSpPr/>
            <p:nvPr userDrawn="1"/>
          </p:nvSpPr>
          <p:spPr>
            <a:xfrm>
              <a:off x="12389357" y="6126373"/>
              <a:ext cx="938274" cy="938274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0752F4C2-D75C-4E03-E376-C7A83DFF6761}"/>
                </a:ext>
              </a:extLst>
            </p:cNvPr>
            <p:cNvSpPr/>
            <p:nvPr userDrawn="1"/>
          </p:nvSpPr>
          <p:spPr>
            <a:xfrm>
              <a:off x="11635736" y="952931"/>
              <a:ext cx="655320" cy="655320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917B1E03-7A24-3004-0502-324AAD840771}"/>
                </a:ext>
              </a:extLst>
            </p:cNvPr>
            <p:cNvSpPr/>
            <p:nvPr userDrawn="1"/>
          </p:nvSpPr>
          <p:spPr>
            <a:xfrm>
              <a:off x="12459459" y="2415640"/>
              <a:ext cx="655320" cy="655320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5809DDEE-E5C6-1CFD-5689-BF5B87AD6E0C}"/>
                </a:ext>
              </a:extLst>
            </p:cNvPr>
            <p:cNvSpPr/>
            <p:nvPr userDrawn="1"/>
          </p:nvSpPr>
          <p:spPr>
            <a:xfrm>
              <a:off x="12459459" y="3829070"/>
              <a:ext cx="655320" cy="655320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058D61F5-991F-5571-2BAC-897F5B099EF0}"/>
                </a:ext>
              </a:extLst>
            </p:cNvPr>
            <p:cNvSpPr/>
            <p:nvPr userDrawn="1"/>
          </p:nvSpPr>
          <p:spPr>
            <a:xfrm>
              <a:off x="11734037" y="5323563"/>
              <a:ext cx="655320" cy="655320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0FA27FFD-391A-922F-B8F4-0DAB3BC5B9C4}"/>
                </a:ext>
              </a:extLst>
            </p:cNvPr>
            <p:cNvSpPr/>
            <p:nvPr userDrawn="1"/>
          </p:nvSpPr>
          <p:spPr>
            <a:xfrm>
              <a:off x="11248134" y="7003897"/>
              <a:ext cx="655320" cy="655320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07529351-3C86-6A87-4DF1-0404698E396C}"/>
                </a:ext>
              </a:extLst>
            </p:cNvPr>
            <p:cNvSpPr/>
            <p:nvPr userDrawn="1"/>
          </p:nvSpPr>
          <p:spPr>
            <a:xfrm>
              <a:off x="11260834" y="-554822"/>
              <a:ext cx="655320" cy="655320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F6986ED4-7FD6-2A06-8DCD-B72B5019A50B}"/>
                </a:ext>
              </a:extLst>
            </p:cNvPr>
            <p:cNvSpPr/>
            <p:nvPr userDrawn="1"/>
          </p:nvSpPr>
          <p:spPr>
            <a:xfrm>
              <a:off x="10616943" y="100498"/>
              <a:ext cx="475488" cy="475488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Ellipse 77">
              <a:extLst>
                <a:ext uri="{FF2B5EF4-FFF2-40B4-BE49-F238E27FC236}">
                  <a16:creationId xmlns:a16="http://schemas.microsoft.com/office/drawing/2014/main" id="{3136D76A-62F4-EAB6-D346-DA4E805476E8}"/>
                </a:ext>
              </a:extLst>
            </p:cNvPr>
            <p:cNvSpPr/>
            <p:nvPr userDrawn="1"/>
          </p:nvSpPr>
          <p:spPr>
            <a:xfrm>
              <a:off x="11258549" y="1639524"/>
              <a:ext cx="475488" cy="475488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2843168C-B2E1-3CA7-792E-04992CD2FC5E}"/>
                </a:ext>
              </a:extLst>
            </p:cNvPr>
            <p:cNvSpPr/>
            <p:nvPr userDrawn="1"/>
          </p:nvSpPr>
          <p:spPr>
            <a:xfrm>
              <a:off x="11356846" y="4547444"/>
              <a:ext cx="475488" cy="475488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CB00FBBC-BF92-A25B-35F7-115B141F2C7A}"/>
                </a:ext>
              </a:extLst>
            </p:cNvPr>
            <p:cNvSpPr/>
            <p:nvPr userDrawn="1"/>
          </p:nvSpPr>
          <p:spPr>
            <a:xfrm>
              <a:off x="10823699" y="6207185"/>
              <a:ext cx="475488" cy="475488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9340D671-C730-00B5-4DE6-E0C3684C197F}"/>
                </a:ext>
              </a:extLst>
            </p:cNvPr>
            <p:cNvSpPr/>
            <p:nvPr userDrawn="1"/>
          </p:nvSpPr>
          <p:spPr>
            <a:xfrm>
              <a:off x="10604243" y="7415464"/>
              <a:ext cx="475488" cy="475488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4541F21E-1A13-23AD-EA90-4192EEA79C58}"/>
                </a:ext>
              </a:extLst>
            </p:cNvPr>
            <p:cNvSpPr/>
            <p:nvPr userDrawn="1"/>
          </p:nvSpPr>
          <p:spPr>
            <a:xfrm>
              <a:off x="10616943" y="-978922"/>
              <a:ext cx="475488" cy="475488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9FB25FCD-A6A2-425F-C436-203CFAA2318F}"/>
                </a:ext>
              </a:extLst>
            </p:cNvPr>
            <p:cNvSpPr/>
            <p:nvPr userDrawn="1"/>
          </p:nvSpPr>
          <p:spPr>
            <a:xfrm>
              <a:off x="13327631" y="-209657"/>
              <a:ext cx="938274" cy="938274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316BD897-B1FD-5425-C5C7-BF63350E6F91}"/>
                </a:ext>
              </a:extLst>
            </p:cNvPr>
            <p:cNvSpPr/>
            <p:nvPr userDrawn="1"/>
          </p:nvSpPr>
          <p:spPr>
            <a:xfrm>
              <a:off x="10027154" y="6682673"/>
              <a:ext cx="475488" cy="475488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5678B2E9-8FC3-C713-5B51-A4D73FE473E0}"/>
                </a:ext>
              </a:extLst>
            </p:cNvPr>
            <p:cNvSpPr/>
            <p:nvPr userDrawn="1"/>
          </p:nvSpPr>
          <p:spPr>
            <a:xfrm>
              <a:off x="9776710" y="-374990"/>
              <a:ext cx="475488" cy="475488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6" name="Grafik 85">
              <a:extLst>
                <a:ext uri="{FF2B5EF4-FFF2-40B4-BE49-F238E27FC236}">
                  <a16:creationId xmlns:a16="http://schemas.microsoft.com/office/drawing/2014/main" id="{F56BBB7C-2005-11F9-6E73-323631B1E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35322" y="2524612"/>
              <a:ext cx="1600494" cy="1600494"/>
            </a:xfrm>
            <a:prstGeom prst="rect">
              <a:avLst/>
            </a:prstGeom>
          </p:spPr>
        </p:pic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61DCEC71-72CD-15B4-CFC3-D589AEAD31D3}"/>
                </a:ext>
              </a:extLst>
            </p:cNvPr>
            <p:cNvGrpSpPr/>
            <p:nvPr/>
          </p:nvGrpSpPr>
          <p:grpSpPr>
            <a:xfrm>
              <a:off x="12738863" y="1408131"/>
              <a:ext cx="1495293" cy="4038728"/>
              <a:chOff x="12738863" y="1408131"/>
              <a:chExt cx="1495293" cy="4038728"/>
            </a:xfrm>
          </p:grpSpPr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906A6C4C-4FF1-A0FA-46A2-4CCDD0797884}"/>
                  </a:ext>
                </a:extLst>
              </p:cNvPr>
              <p:cNvSpPr/>
              <p:nvPr userDrawn="1"/>
            </p:nvSpPr>
            <p:spPr>
              <a:xfrm>
                <a:off x="12738863" y="1408131"/>
                <a:ext cx="938274" cy="938274"/>
              </a:xfrm>
              <a:prstGeom prst="ellipse">
                <a:avLst/>
              </a:prstGeom>
              <a:solidFill>
                <a:srgbClr val="A58BBB"/>
              </a:solidFill>
              <a:ln w="25400">
                <a:solidFill>
                  <a:srgbClr val="263A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172390D0-1EF5-C61E-255F-BC2DE208DD3E}"/>
                  </a:ext>
                </a:extLst>
              </p:cNvPr>
              <p:cNvSpPr/>
              <p:nvPr userDrawn="1"/>
            </p:nvSpPr>
            <p:spPr>
              <a:xfrm>
                <a:off x="13295882" y="2980879"/>
                <a:ext cx="938274" cy="938274"/>
              </a:xfrm>
              <a:prstGeom prst="ellipse">
                <a:avLst/>
              </a:prstGeom>
              <a:solidFill>
                <a:srgbClr val="A7D3C2"/>
              </a:solidFill>
              <a:ln w="25400">
                <a:solidFill>
                  <a:srgbClr val="263A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0" name="Ellipse 89">
                <a:extLst>
                  <a:ext uri="{FF2B5EF4-FFF2-40B4-BE49-F238E27FC236}">
                    <a16:creationId xmlns:a16="http://schemas.microsoft.com/office/drawing/2014/main" id="{73986867-AD62-4A9E-B0F9-0E86596937FB}"/>
                  </a:ext>
                </a:extLst>
              </p:cNvPr>
              <p:cNvSpPr/>
              <p:nvPr userDrawn="1"/>
            </p:nvSpPr>
            <p:spPr>
              <a:xfrm>
                <a:off x="12837160" y="4508585"/>
                <a:ext cx="938274" cy="938274"/>
              </a:xfrm>
              <a:prstGeom prst="ellipse">
                <a:avLst/>
              </a:prstGeom>
              <a:solidFill>
                <a:srgbClr val="F29B80"/>
              </a:solidFill>
              <a:ln w="25400">
                <a:solidFill>
                  <a:srgbClr val="263A7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91" name="Picture 2" descr="Neu gegründet: FAU Kompetenzzentrum Lehre - Technische Fakultät">
                <a:extLst>
                  <a:ext uri="{FF2B5EF4-FFF2-40B4-BE49-F238E27FC236}">
                    <a16:creationId xmlns:a16="http://schemas.microsoft.com/office/drawing/2014/main" id="{984D639E-15F4-BBAB-23DD-B682F74F95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336198" y="3234089"/>
                <a:ext cx="858412" cy="4988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2" name="Picture 4">
                <a:extLst>
                  <a:ext uri="{FF2B5EF4-FFF2-40B4-BE49-F238E27FC236}">
                    <a16:creationId xmlns:a16="http://schemas.microsoft.com/office/drawing/2014/main" id="{7CB5F729-848B-4E4E-9F0D-A509454B8E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804218" y="1600200"/>
                <a:ext cx="824924" cy="6051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3" name="Grafik 92" descr="The AMOS Project | LinkedIn">
                <a:extLst>
                  <a:ext uri="{FF2B5EF4-FFF2-40B4-BE49-F238E27FC236}">
                    <a16:creationId xmlns:a16="http://schemas.microsoft.com/office/drawing/2014/main" id="{473B165A-91CA-FDE6-CB4C-7E219BE6B0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/>
            </p:blipFill>
            <p:spPr>
              <a:xfrm>
                <a:off x="12999695" y="4677263"/>
                <a:ext cx="633497" cy="633497"/>
              </a:xfrm>
              <a:prstGeom prst="rect">
                <a:avLst/>
              </a:prstGeom>
            </p:spPr>
          </p:pic>
        </p:grpSp>
      </p:grpSp>
      <p:sp>
        <p:nvSpPr>
          <p:cNvPr id="107" name="Datumsplatzhalter 106">
            <a:extLst>
              <a:ext uri="{FF2B5EF4-FFF2-40B4-BE49-F238E27FC236}">
                <a16:creationId xmlns:a16="http://schemas.microsoft.com/office/drawing/2014/main" id="{B3D25213-2DC2-0781-3200-AB728FD2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63" y="7864475"/>
            <a:ext cx="2743200" cy="365125"/>
          </a:xfrm>
        </p:spPr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108" name="Fußzeilenplatzhalter 107">
            <a:extLst>
              <a:ext uri="{FF2B5EF4-FFF2-40B4-BE49-F238E27FC236}">
                <a16:creationId xmlns:a16="http://schemas.microsoft.com/office/drawing/2014/main" id="{C42C880F-4E3D-330F-FE6C-93037E77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91733" y="7858526"/>
            <a:ext cx="4114800" cy="365125"/>
          </a:xfrm>
        </p:spPr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109" name="Foliennummernplatzhalter 108">
            <a:extLst>
              <a:ext uri="{FF2B5EF4-FFF2-40B4-BE49-F238E27FC236}">
                <a16:creationId xmlns:a16="http://schemas.microsoft.com/office/drawing/2014/main" id="{50009DD9-B68A-BACC-0866-6E1AC973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5080" y="7840418"/>
            <a:ext cx="2743200" cy="365125"/>
          </a:xfrm>
        </p:spPr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  <p:sp>
        <p:nvSpPr>
          <p:cNvPr id="119" name="Textplatzhalter 118">
            <a:extLst>
              <a:ext uri="{FF2B5EF4-FFF2-40B4-BE49-F238E27FC236}">
                <a16:creationId xmlns:a16="http://schemas.microsoft.com/office/drawing/2014/main" id="{5AA202B3-21CD-CF54-7469-C758606D1F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5471" y="1664107"/>
            <a:ext cx="7943850" cy="1504579"/>
          </a:xfrm>
          <a:noFill/>
        </p:spPr>
        <p:txBody>
          <a:bodyPr wrap="square" lIns="0" tIns="0" rIns="0" bIns="0" anchor="t">
            <a:spAutoFit/>
          </a:bodyPr>
          <a:lstStyle>
            <a:lvl1pPr>
              <a:defRPr lang="de-DE" sz="1800" b="0" dirty="0" smtClean="0">
                <a:solidFill>
                  <a:srgbClr val="263A70"/>
                </a:solidFill>
                <a:latin typeface="Aptos"/>
              </a:defRPr>
            </a:lvl1pPr>
            <a:lvl2pPr>
              <a:defRPr lang="de-DE" sz="1800" b="0" kern="1200" dirty="0" smtClean="0">
                <a:solidFill>
                  <a:srgbClr val="263A70"/>
                </a:solidFill>
                <a:latin typeface="Aptos"/>
                <a:ea typeface="+mn-ea"/>
                <a:cs typeface="+mn-cs"/>
              </a:defRPr>
            </a:lvl2pPr>
            <a:lvl3pPr>
              <a:defRPr lang="de-DE" sz="1800" b="0" kern="1200" dirty="0" smtClean="0">
                <a:solidFill>
                  <a:srgbClr val="263A70"/>
                </a:solidFill>
                <a:latin typeface="Aptos"/>
                <a:ea typeface="+mn-ea"/>
                <a:cs typeface="+mn-cs"/>
              </a:defRPr>
            </a:lvl3pPr>
            <a:lvl4pPr>
              <a:defRPr lang="de-DE" sz="1800" b="0" kern="1200" dirty="0" smtClean="0">
                <a:solidFill>
                  <a:srgbClr val="263A70"/>
                </a:solidFill>
                <a:latin typeface="Aptos"/>
                <a:ea typeface="+mn-ea"/>
                <a:cs typeface="+mn-cs"/>
              </a:defRPr>
            </a:lvl4pPr>
            <a:lvl5pPr>
              <a:defRPr lang="de-DE" sz="1800" b="0" kern="1200" dirty="0" smtClean="0">
                <a:solidFill>
                  <a:srgbClr val="263A70"/>
                </a:solidFill>
                <a:latin typeface="Aptos"/>
                <a:ea typeface="+mn-ea"/>
                <a:cs typeface="+mn-cs"/>
              </a:defRPr>
            </a:lvl5pPr>
          </a:lstStyle>
          <a:p>
            <a:pPr marL="0" lvl="0">
              <a:spcAft>
                <a:spcPts val="0"/>
              </a:spcAft>
            </a:pPr>
            <a:r>
              <a:rPr lang="de-DE"/>
              <a:t>Mastertextformat bearbeiten</a:t>
            </a:r>
          </a:p>
          <a:p>
            <a:pPr marL="457200" lvl="1"/>
            <a:r>
              <a:rPr lang="de-DE"/>
              <a:t>Zweite Ebene</a:t>
            </a:r>
          </a:p>
          <a:p>
            <a:pPr marL="914400" lvl="2"/>
            <a:r>
              <a:rPr lang="de-DE"/>
              <a:t>Dritte Ebene</a:t>
            </a:r>
          </a:p>
          <a:p>
            <a:pPr marL="1371600" lvl="3"/>
            <a:r>
              <a:rPr lang="de-DE"/>
              <a:t>Vierte Ebene</a:t>
            </a:r>
          </a:p>
          <a:p>
            <a:pPr marL="1828800"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64421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49AF33A-6414-8898-F5DA-3FC5FBF93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D32A62-FE20-77B0-CA72-68F8C80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EBEB74-68DF-7560-23AC-B043D9CA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72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3FAA2-BEC7-3C88-6717-6F54443FD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36D453-1C4E-54A3-96A7-85BDFFBD3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30A951-3D9D-03DB-4AA7-29A258BDE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41F6DA-2889-060C-5F52-7634D14E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C86CB3-AE56-BC15-3D27-C288C3AAB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8DF18B-DD82-DF40-B6ED-5157E04C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36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CD450-CE14-7C93-3B3C-BA4AB66D3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179B323-9589-ED1B-C870-B4487B344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34C080-634D-2752-862A-78171F05A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578A2E-174B-955C-AAC2-E1EFD22C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766882-3EAA-CC0D-4C38-4ADBA350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E44E96-47DC-9D20-B52E-E1315DF1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866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49F21-68DE-65FB-F94B-D14C8C460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5384B9-B8A2-4E13-381C-9E6DD8797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DCFC70-93DC-7E4E-A4DA-9369A767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0FFB99-8350-AF97-8CB7-2422A0745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BC2944-4224-407D-4C74-5D7DC80C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5983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3675C2B-71F7-0C23-B029-A8AEBB2F9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D438AFF-D506-8C03-697C-D828C269B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82BE83-17BA-AEF3-43A1-9AF3917E1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453F0B-036F-ED6A-A19C-6FDAD4CA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BAE8AE-95A9-29BB-92CA-A3A3DFC0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272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7FFF52-17F6-16EE-CDB9-AE1321EEC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766346-C5DE-6254-E829-E450FC740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A3247C-73C7-4338-1249-786395E72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July 15, 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D1199B-6AC1-0E83-B252-E2E48D427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AMOS Project: TaskOrbit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2BACED-479E-EF2B-F478-A0BF63ADC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DB73E-C9C0-4A4A-81E2-B84B87D95B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4695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5" Type="http://schemas.openxmlformats.org/officeDocument/2006/relationships/image" Target="../media/image3.png"/><Relationship Id="rId15" Type="http://schemas.openxmlformats.org/officeDocument/2006/relationships/image" Target="../media/image16.svg"/><Relationship Id="rId10" Type="http://schemas.openxmlformats.org/officeDocument/2006/relationships/image" Target="../media/image11.svg"/><Relationship Id="rId4" Type="http://schemas.openxmlformats.org/officeDocument/2006/relationships/image" Target="../media/image2.pn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28DBE-F3C5-E0C2-C287-339E83B89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545FCD-D021-4F3D-2A3B-640F8A42B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304" y="1606995"/>
            <a:ext cx="6166104" cy="2387600"/>
          </a:xfrm>
        </p:spPr>
        <p:txBody>
          <a:bodyPr>
            <a:normAutofit/>
          </a:bodyPr>
          <a:lstStyle/>
          <a:p>
            <a:pPr algn="l"/>
            <a:r>
              <a:rPr lang="en-US" b="1" noProof="0">
                <a:solidFill>
                  <a:srgbClr val="273C70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AMOS Project:</a:t>
            </a:r>
            <a:br>
              <a:rPr lang="en-US" b="1" noProof="0">
                <a:solidFill>
                  <a:srgbClr val="273C70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</a:br>
            <a:r>
              <a:rPr lang="en-US" b="1" noProof="0" err="1">
                <a:solidFill>
                  <a:srgbClr val="F29B80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TaskOrbit</a:t>
            </a:r>
            <a:endParaRPr lang="en-US" b="1" noProof="0">
              <a:solidFill>
                <a:srgbClr val="F29B80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85B298-D9A5-F7CB-868A-CEECF0FAB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304" y="4100317"/>
            <a:ext cx="7127530" cy="210942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noProof="0">
                <a:solidFill>
                  <a:srgbClr val="273C70"/>
                </a:solidFill>
                <a:latin typeface="Aptos"/>
                <a:ea typeface="Amazon Ember Display Light" panose="020F0403020204020204" pitchFamily="34" charset="0"/>
                <a:cs typeface="Amazon Ember Display Light" panose="020F0403020204020204" pitchFamily="34" charset="0"/>
              </a:rPr>
              <a:t>Team 4</a:t>
            </a:r>
            <a:br>
              <a:rPr lang="en-US" noProof="0">
                <a:latin typeface="Aptos"/>
                <a:ea typeface="Amazon Ember Display Light" panose="020F0403020204020204" pitchFamily="34" charset="0"/>
                <a:cs typeface="Amazon Ember Display Light" panose="020F0403020204020204" pitchFamily="34" charset="0"/>
              </a:rPr>
            </a:br>
            <a:r>
              <a:rPr lang="en-US" sz="1800" noProof="0">
                <a:solidFill>
                  <a:srgbClr val="273C70"/>
                </a:solidFill>
                <a:latin typeface="Aptos"/>
                <a:ea typeface="Amazon Ember Display Light" panose="020F0403020204020204" pitchFamily="34" charset="0"/>
                <a:cs typeface="Amazon Ember Display Light" panose="020F0403020204020204" pitchFamily="34" charset="0"/>
              </a:rPr>
              <a:t>Product Owners: Carl Mosler, Christoph Huy </a:t>
            </a:r>
            <a:endParaRPr lang="en-US" noProof="0">
              <a:latin typeface="Aptos"/>
            </a:endParaRPr>
          </a:p>
          <a:p>
            <a:pPr algn="l">
              <a:lnSpc>
                <a:spcPct val="110000"/>
              </a:lnSpc>
            </a:pPr>
            <a:r>
              <a:rPr lang="en-US" sz="1800" noProof="0">
                <a:solidFill>
                  <a:srgbClr val="273C70"/>
                </a:solidFill>
                <a:latin typeface="Aptos"/>
                <a:ea typeface="Amazon Ember Display Light" panose="020F0403020204020204" pitchFamily="34" charset="0"/>
                <a:cs typeface="Amazon Ember Display Light" panose="020F0403020204020204" pitchFamily="34" charset="0"/>
              </a:rPr>
              <a:t>Scrum-Master: Rene </a:t>
            </a:r>
            <a:r>
              <a:rPr lang="en-US" sz="1800" noProof="0" err="1">
                <a:solidFill>
                  <a:srgbClr val="273C70"/>
                </a:solidFill>
                <a:ea typeface="+mn-lt"/>
                <a:cs typeface="+mn-lt"/>
              </a:rPr>
              <a:t>Jokiel</a:t>
            </a:r>
            <a:endParaRPr lang="en-US" noProof="0">
              <a:solidFill>
                <a:srgbClr val="000000"/>
              </a:solidFill>
              <a:latin typeface="Aptos" panose="02110004020202020204"/>
              <a:ea typeface="Amazon Ember Display Light" panose="020F0403020204020204" pitchFamily="34" charset="0"/>
              <a:cs typeface="Amazon Ember Display Light" panose="020F0403020204020204" pitchFamily="34" charset="0"/>
            </a:endParaRPr>
          </a:p>
          <a:p>
            <a:pPr algn="l">
              <a:lnSpc>
                <a:spcPct val="110000"/>
              </a:lnSpc>
              <a:tabLst>
                <a:tab pos="1254125" algn="l"/>
              </a:tabLst>
            </a:pPr>
            <a:r>
              <a:rPr lang="en-US" sz="1800" noProof="0">
                <a:solidFill>
                  <a:srgbClr val="273C70"/>
                </a:solidFill>
                <a:latin typeface="Aptos"/>
                <a:ea typeface="Amazon Ember Display Light" panose="020F0403020204020204" pitchFamily="34" charset="0"/>
                <a:cs typeface="Amazon Ember Display Light" panose="020F0403020204020204" pitchFamily="34" charset="0"/>
              </a:rPr>
              <a:t>Developers: 	</a:t>
            </a:r>
            <a:r>
              <a:rPr lang="en-US" sz="1800" noProof="0">
                <a:solidFill>
                  <a:srgbClr val="273C70"/>
                </a:solidFill>
                <a:ea typeface="+mn-lt"/>
                <a:cs typeface="+mn-lt"/>
              </a:rPr>
              <a:t>Qiblatain </a:t>
            </a:r>
            <a:r>
              <a:rPr lang="en-US" sz="1800" noProof="0">
                <a:solidFill>
                  <a:srgbClr val="273C70"/>
                </a:solidFill>
              </a:rPr>
              <a:t>Fatima, </a:t>
            </a:r>
            <a:r>
              <a:rPr lang="en-US" sz="1800" noProof="0">
                <a:solidFill>
                  <a:srgbClr val="273C70"/>
                </a:solidFill>
                <a:ea typeface="+mn-lt"/>
                <a:cs typeface="+mn-lt"/>
              </a:rPr>
              <a:t>Asad Raza, Vineesh </a:t>
            </a:r>
            <a:r>
              <a:rPr lang="en-US" sz="1800" noProof="0" err="1">
                <a:solidFill>
                  <a:srgbClr val="273C70"/>
                </a:solidFill>
                <a:ea typeface="+mn-lt"/>
                <a:cs typeface="+mn-lt"/>
              </a:rPr>
              <a:t>Koppay</a:t>
            </a:r>
            <a:r>
              <a:rPr lang="en-US" sz="1800" noProof="0">
                <a:solidFill>
                  <a:srgbClr val="273C70"/>
                </a:solidFill>
                <a:ea typeface="+mn-lt"/>
                <a:cs typeface="+mn-lt"/>
              </a:rPr>
              <a:t>, Abdul 	Moeez, Shikhar Thakur, Dhruvin </a:t>
            </a:r>
            <a:r>
              <a:rPr lang="en-US" sz="1800" noProof="0" err="1">
                <a:solidFill>
                  <a:srgbClr val="273C70"/>
                </a:solidFill>
                <a:ea typeface="+mn-lt"/>
                <a:cs typeface="+mn-lt"/>
              </a:rPr>
              <a:t>Vekariya</a:t>
            </a:r>
            <a:r>
              <a:rPr lang="en-US" sz="1800" noProof="0">
                <a:solidFill>
                  <a:srgbClr val="273C70"/>
                </a:solidFill>
                <a:ea typeface="+mn-lt"/>
                <a:cs typeface="+mn-lt"/>
              </a:rPr>
              <a:t>, Endri </a:t>
            </a:r>
            <a:r>
              <a:rPr lang="en-US" sz="1800" noProof="0" err="1">
                <a:solidFill>
                  <a:srgbClr val="273C70"/>
                </a:solidFill>
                <a:ea typeface="+mn-lt"/>
                <a:cs typeface="+mn-lt"/>
              </a:rPr>
              <a:t>Shameti</a:t>
            </a:r>
            <a:endParaRPr lang="en-US" noProof="0"/>
          </a:p>
          <a:p>
            <a:endParaRPr lang="en-US" noProof="0"/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F958F8F-0A65-CE3E-E043-58587D88E2C5}"/>
              </a:ext>
            </a:extLst>
          </p:cNvPr>
          <p:cNvGrpSpPr/>
          <p:nvPr/>
        </p:nvGrpSpPr>
        <p:grpSpPr>
          <a:xfrm>
            <a:off x="6516299" y="-469137"/>
            <a:ext cx="7409637" cy="8138706"/>
            <a:chOff x="5510458" y="-469137"/>
            <a:chExt cx="7409637" cy="8138706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3B339D7-024B-D657-017C-BABF97813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95161" y="247203"/>
              <a:ext cx="3747392" cy="3747392"/>
            </a:xfrm>
            <a:prstGeom prst="rect">
              <a:avLst/>
            </a:prstGeom>
          </p:spPr>
        </p:pic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2BBF0C88-68F1-7AC5-2E02-72656F7F790E}"/>
                </a:ext>
              </a:extLst>
            </p:cNvPr>
            <p:cNvSpPr/>
            <p:nvPr/>
          </p:nvSpPr>
          <p:spPr>
            <a:xfrm>
              <a:off x="8631113" y="4908200"/>
              <a:ext cx="475488" cy="475488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4D4AA8E0-1EAF-B647-34FF-D2EAA1E1AE8C}"/>
                </a:ext>
              </a:extLst>
            </p:cNvPr>
            <p:cNvSpPr/>
            <p:nvPr/>
          </p:nvSpPr>
          <p:spPr>
            <a:xfrm>
              <a:off x="11109960" y="758952"/>
              <a:ext cx="655320" cy="655320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CB99D90-3D38-33A2-C8CE-5016244B4D4D}"/>
                </a:ext>
              </a:extLst>
            </p:cNvPr>
            <p:cNvSpPr/>
            <p:nvPr/>
          </p:nvSpPr>
          <p:spPr>
            <a:xfrm>
              <a:off x="11044306" y="2260791"/>
              <a:ext cx="321564" cy="321564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D48CF836-42CB-61D4-9E9A-F511346B531D}"/>
                </a:ext>
              </a:extLst>
            </p:cNvPr>
            <p:cNvSpPr/>
            <p:nvPr/>
          </p:nvSpPr>
          <p:spPr>
            <a:xfrm>
              <a:off x="11502653" y="3925888"/>
              <a:ext cx="321564" cy="321564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CBD90FDC-3226-93F7-E0C8-C5A56AE4E261}"/>
                </a:ext>
              </a:extLst>
            </p:cNvPr>
            <p:cNvSpPr/>
            <p:nvPr/>
          </p:nvSpPr>
          <p:spPr>
            <a:xfrm>
              <a:off x="10896733" y="4914551"/>
              <a:ext cx="938274" cy="938274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90B9F4F9-1A54-4130-7D75-3E5992DDC231}"/>
                </a:ext>
              </a:extLst>
            </p:cNvPr>
            <p:cNvSpPr/>
            <p:nvPr/>
          </p:nvSpPr>
          <p:spPr>
            <a:xfrm>
              <a:off x="9318886" y="5742432"/>
              <a:ext cx="938274" cy="938274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7881EE8A-632B-1034-BC46-37B15EAD133E}"/>
                </a:ext>
              </a:extLst>
            </p:cNvPr>
            <p:cNvSpPr/>
            <p:nvPr/>
          </p:nvSpPr>
          <p:spPr>
            <a:xfrm>
              <a:off x="9852031" y="4418902"/>
              <a:ext cx="655320" cy="655320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527ED518-3325-BC00-4031-DBEF5EA63418}"/>
                </a:ext>
              </a:extLst>
            </p:cNvPr>
            <p:cNvSpPr/>
            <p:nvPr/>
          </p:nvSpPr>
          <p:spPr>
            <a:xfrm>
              <a:off x="7745863" y="5883909"/>
              <a:ext cx="655320" cy="655320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B4929D8E-6D22-E3A5-5D05-2C4B60CE6DA2}"/>
                </a:ext>
              </a:extLst>
            </p:cNvPr>
            <p:cNvSpPr/>
            <p:nvPr/>
          </p:nvSpPr>
          <p:spPr>
            <a:xfrm>
              <a:off x="11044306" y="3243994"/>
              <a:ext cx="321564" cy="321564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9FEC47B1-AD82-9900-031C-1CEA946ECF94}"/>
                </a:ext>
              </a:extLst>
            </p:cNvPr>
            <p:cNvSpPr/>
            <p:nvPr/>
          </p:nvSpPr>
          <p:spPr>
            <a:xfrm>
              <a:off x="10788396" y="6099048"/>
              <a:ext cx="321564" cy="321564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FBAF8EC-AED7-B2A5-9699-D4D270298B4C}"/>
                </a:ext>
              </a:extLst>
            </p:cNvPr>
            <p:cNvSpPr/>
            <p:nvPr/>
          </p:nvSpPr>
          <p:spPr>
            <a:xfrm>
              <a:off x="6834379" y="6420612"/>
              <a:ext cx="321564" cy="321564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2B2A358E-2296-3B92-CB26-1536FE6DFF28}"/>
                </a:ext>
              </a:extLst>
            </p:cNvPr>
            <p:cNvSpPr/>
            <p:nvPr/>
          </p:nvSpPr>
          <p:spPr>
            <a:xfrm>
              <a:off x="9987983" y="-469137"/>
              <a:ext cx="938274" cy="938274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AD24386B-5AF0-48D3-6FD9-E854A6B12F24}"/>
                </a:ext>
              </a:extLst>
            </p:cNvPr>
            <p:cNvSpPr/>
            <p:nvPr/>
          </p:nvSpPr>
          <p:spPr>
            <a:xfrm>
              <a:off x="11981821" y="2260791"/>
              <a:ext cx="938274" cy="938274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ACBF68E8-5224-3E3A-8549-C4EC4EF288BF}"/>
                </a:ext>
              </a:extLst>
            </p:cNvPr>
            <p:cNvSpPr/>
            <p:nvPr/>
          </p:nvSpPr>
          <p:spPr>
            <a:xfrm>
              <a:off x="11698487" y="182814"/>
              <a:ext cx="321564" cy="321564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E51AFE8B-6AC6-175A-5AF6-DECAFB902DAD}"/>
                </a:ext>
              </a:extLst>
            </p:cNvPr>
            <p:cNvSpPr/>
            <p:nvPr/>
          </p:nvSpPr>
          <p:spPr>
            <a:xfrm>
              <a:off x="12020051" y="1446213"/>
              <a:ext cx="321564" cy="321564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2935138-0E5A-D8C8-474B-4F79ABFAAA61}"/>
                </a:ext>
              </a:extLst>
            </p:cNvPr>
            <p:cNvSpPr/>
            <p:nvPr/>
          </p:nvSpPr>
          <p:spPr>
            <a:xfrm>
              <a:off x="5510458" y="6651678"/>
              <a:ext cx="655320" cy="655320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1B89C3E0-9F38-438E-5345-4C4A97E7B291}"/>
                </a:ext>
              </a:extLst>
            </p:cNvPr>
            <p:cNvSpPr/>
            <p:nvPr/>
          </p:nvSpPr>
          <p:spPr>
            <a:xfrm>
              <a:off x="8401183" y="6731295"/>
              <a:ext cx="938274" cy="938274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5C68B86B-5356-95E9-6D65-366F11AA51B9}"/>
                </a:ext>
              </a:extLst>
            </p:cNvPr>
            <p:cNvSpPr/>
            <p:nvPr/>
          </p:nvSpPr>
          <p:spPr>
            <a:xfrm>
              <a:off x="11864340" y="4366951"/>
              <a:ext cx="655320" cy="655320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1B140F3D-A7D4-6D1A-82FB-ADFC3CE432ED}"/>
              </a:ext>
            </a:extLst>
          </p:cNvPr>
          <p:cNvGrpSpPr/>
          <p:nvPr/>
        </p:nvGrpSpPr>
        <p:grpSpPr>
          <a:xfrm>
            <a:off x="13456799" y="3386553"/>
            <a:ext cx="938274" cy="938274"/>
            <a:chOff x="15581418" y="3812371"/>
            <a:chExt cx="938274" cy="938274"/>
          </a:xfrm>
        </p:grpSpPr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55E24356-DD65-D044-15C5-B0C31813EF79}"/>
                </a:ext>
              </a:extLst>
            </p:cNvPr>
            <p:cNvSpPr/>
            <p:nvPr userDrawn="1"/>
          </p:nvSpPr>
          <p:spPr>
            <a:xfrm>
              <a:off x="15581418" y="3812371"/>
              <a:ext cx="938274" cy="938274"/>
            </a:xfrm>
            <a:prstGeom prst="ellipse">
              <a:avLst/>
            </a:prstGeom>
            <a:solidFill>
              <a:srgbClr val="A7D3C2"/>
            </a:solidFill>
            <a:ln w="25400">
              <a:solidFill>
                <a:srgbClr val="263A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pic>
          <p:nvPicPr>
            <p:cNvPr id="29" name="Picture 2" descr="Neu gegründet: FAU Kompetenzzentrum Lehre - Technische Fakultät">
              <a:extLst>
                <a:ext uri="{FF2B5EF4-FFF2-40B4-BE49-F238E27FC236}">
                  <a16:creationId xmlns:a16="http://schemas.microsoft.com/office/drawing/2014/main" id="{5DAB47EF-D939-98D6-8925-3B13DCA573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21734" y="4065581"/>
              <a:ext cx="858412" cy="498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A681C813-14FE-5FD3-972A-66B646399329}"/>
              </a:ext>
            </a:extLst>
          </p:cNvPr>
          <p:cNvGrpSpPr/>
          <p:nvPr/>
        </p:nvGrpSpPr>
        <p:grpSpPr>
          <a:xfrm>
            <a:off x="13274565" y="371840"/>
            <a:ext cx="938274" cy="938274"/>
            <a:chOff x="15024399" y="2239623"/>
            <a:chExt cx="938274" cy="938274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B39FFE76-7E01-5906-F6B0-73A8CC0084E2}"/>
                </a:ext>
              </a:extLst>
            </p:cNvPr>
            <p:cNvSpPr/>
            <p:nvPr userDrawn="1"/>
          </p:nvSpPr>
          <p:spPr>
            <a:xfrm>
              <a:off x="15024399" y="2239623"/>
              <a:ext cx="938274" cy="938274"/>
            </a:xfrm>
            <a:prstGeom prst="ellipse">
              <a:avLst/>
            </a:prstGeom>
            <a:solidFill>
              <a:srgbClr val="A58BBB"/>
            </a:solidFill>
            <a:ln w="25400">
              <a:solidFill>
                <a:srgbClr val="263A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pic>
          <p:nvPicPr>
            <p:cNvPr id="30" name="Picture 4">
              <a:extLst>
                <a:ext uri="{FF2B5EF4-FFF2-40B4-BE49-F238E27FC236}">
                  <a16:creationId xmlns:a16="http://schemas.microsoft.com/office/drawing/2014/main" id="{50C80AFD-B051-A043-69D8-37B4BFD033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89754" y="2431692"/>
              <a:ext cx="824924" cy="605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F6FB409F-ACFF-8877-9465-EB0748C0A487}"/>
              </a:ext>
            </a:extLst>
          </p:cNvPr>
          <p:cNvGrpSpPr/>
          <p:nvPr/>
        </p:nvGrpSpPr>
        <p:grpSpPr>
          <a:xfrm>
            <a:off x="13056364" y="6041064"/>
            <a:ext cx="938274" cy="938274"/>
            <a:chOff x="15122696" y="5340077"/>
            <a:chExt cx="938274" cy="938274"/>
          </a:xfrm>
        </p:grpSpPr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7E6694DD-650E-C9A4-2EA5-4B3E0C3E356F}"/>
                </a:ext>
              </a:extLst>
            </p:cNvPr>
            <p:cNvSpPr/>
            <p:nvPr userDrawn="1"/>
          </p:nvSpPr>
          <p:spPr>
            <a:xfrm>
              <a:off x="15122696" y="5340077"/>
              <a:ext cx="938274" cy="938274"/>
            </a:xfrm>
            <a:prstGeom prst="ellipse">
              <a:avLst/>
            </a:prstGeom>
            <a:solidFill>
              <a:srgbClr val="F29B80"/>
            </a:solidFill>
            <a:ln w="25400">
              <a:solidFill>
                <a:srgbClr val="263A7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pic>
          <p:nvPicPr>
            <p:cNvPr id="31" name="Grafik 30" descr="The AMOS Project | LinkedIn">
              <a:extLst>
                <a:ext uri="{FF2B5EF4-FFF2-40B4-BE49-F238E27FC236}">
                  <a16:creationId xmlns:a16="http://schemas.microsoft.com/office/drawing/2014/main" id="{D6A0ABAA-5002-A5CA-D090-76B31F672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/>
          </p:blipFill>
          <p:spPr>
            <a:xfrm>
              <a:off x="15285231" y="5508755"/>
              <a:ext cx="633497" cy="633497"/>
            </a:xfrm>
            <a:prstGeom prst="rect">
              <a:avLst/>
            </a:prstGeom>
          </p:spPr>
        </p:pic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E5ACB9C4-BF9E-B713-134C-C1B9514BEC96}"/>
              </a:ext>
            </a:extLst>
          </p:cNvPr>
          <p:cNvGrpSpPr/>
          <p:nvPr/>
        </p:nvGrpSpPr>
        <p:grpSpPr>
          <a:xfrm>
            <a:off x="11513192" y="7006753"/>
            <a:ext cx="938274" cy="938274"/>
            <a:chOff x="11325100" y="7044123"/>
            <a:chExt cx="938274" cy="938274"/>
          </a:xfrm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674F97B5-ACCA-6DA3-93DE-23569C4D8F48}"/>
                </a:ext>
              </a:extLst>
            </p:cNvPr>
            <p:cNvSpPr/>
            <p:nvPr/>
          </p:nvSpPr>
          <p:spPr>
            <a:xfrm>
              <a:off x="11325100" y="7044123"/>
              <a:ext cx="938274" cy="938274"/>
            </a:xfrm>
            <a:prstGeom prst="ellipse">
              <a:avLst/>
            </a:prstGeom>
            <a:solidFill>
              <a:srgbClr val="A58BBB"/>
            </a:solidFill>
            <a:ln w="25400">
              <a:solidFill>
                <a:srgbClr val="263A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pic>
          <p:nvPicPr>
            <p:cNvPr id="60" name="Grafik 59">
              <a:extLst>
                <a:ext uri="{FF2B5EF4-FFF2-40B4-BE49-F238E27FC236}">
                  <a16:creationId xmlns:a16="http://schemas.microsoft.com/office/drawing/2014/main" id="{25E41913-5B32-301A-1339-4417045C0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68133" y="7087156"/>
              <a:ext cx="852207" cy="8522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033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Screenshot, Cartoon enthält.&#10;&#10;KI-generierte Inhalte können fehlerhaft sein.">
            <a:extLst>
              <a:ext uri="{FF2B5EF4-FFF2-40B4-BE49-F238E27FC236}">
                <a16:creationId xmlns:a16="http://schemas.microsoft.com/office/drawing/2014/main" id="{D14CCB14-E9DD-52E1-B95F-965892F17C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1" t="13632" r="1113" b="15716"/>
          <a:stretch>
            <a:fillRect/>
          </a:stretch>
        </p:blipFill>
        <p:spPr>
          <a:xfrm>
            <a:off x="748935" y="1803901"/>
            <a:ext cx="9292047" cy="374121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FE7C28B-8CE9-0503-F355-800E26502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TaskOrbit</a:t>
            </a:r>
            <a:endParaRPr lang="en-US" noProof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477972-1EE8-F578-6946-4CC83697C3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/>
              <a:t>Problem Definition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3E0623-1572-1141-61CF-F5CAF96F5D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5471" y="1773289"/>
            <a:ext cx="7943850" cy="628442"/>
          </a:xfrm>
        </p:spPr>
        <p:txBody>
          <a:bodyPr/>
          <a:lstStyle/>
          <a:p>
            <a:endParaRPr lang="en-US" noProof="0">
              <a:solidFill>
                <a:schemeClr val="accent1"/>
              </a:solidFill>
            </a:endParaRPr>
          </a:p>
          <a:p>
            <a:endParaRPr lang="en-US" noProof="0">
              <a:solidFill>
                <a:schemeClr val="accent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27145C-2D91-9C3D-D3F3-9F60CA2C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FD8CA90-B0A4-6244-293F-3E97CC42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2</a:t>
            </a:fld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3B04C82-BA41-DAD3-AD4A-8086BB6FF882}"/>
              </a:ext>
            </a:extLst>
          </p:cNvPr>
          <p:cNvSpPr txBox="1"/>
          <p:nvPr/>
        </p:nvSpPr>
        <p:spPr>
          <a:xfrm>
            <a:off x="765788" y="5652756"/>
            <a:ext cx="80832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>
                <a:solidFill>
                  <a:schemeClr val="accent2"/>
                </a:solidFill>
              </a:rPr>
              <a:t>Figure</a:t>
            </a:r>
            <a:r>
              <a:rPr lang="de-DE">
                <a:solidFill>
                  <a:schemeClr val="accent2"/>
                </a:solidFill>
              </a:rPr>
              <a:t>: 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Key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limitations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 of traditional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conversational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agent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configurations</a:t>
            </a:r>
            <a:endParaRPr lang="de-DE" sz="1600">
              <a:solidFill>
                <a:schemeClr val="accent1"/>
              </a:solidFill>
            </a:endParaRPr>
          </a:p>
          <a:p>
            <a:endParaRPr lang="de-DE">
              <a:solidFill>
                <a:schemeClr val="accent2"/>
              </a:solidFill>
            </a:endParaRP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2C2F366-2587-154D-E810-16426348B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</a:t>
            </a:r>
            <a:r>
              <a:rPr lang="de-DE" err="1"/>
              <a:t>TaskOrbit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683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2B98899D-4362-161C-E5B5-AE79A762D0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30" t="8105" r="4079" b="11720"/>
          <a:stretch>
            <a:fillRect/>
          </a:stretch>
        </p:blipFill>
        <p:spPr>
          <a:xfrm>
            <a:off x="783217" y="1802676"/>
            <a:ext cx="8648163" cy="41278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1844962-0BEF-9A8D-7445-96861D528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TaskOrbit</a:t>
            </a:r>
            <a:endParaRPr lang="en-US" noProof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3F17F4-3C7E-2B18-9802-17AE770C0D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/>
              <a:t>Project Vision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03A782-FDB7-601D-E643-32CC6879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7CACF34-FD98-D6C6-FB00-BC7AB16B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3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0074102-F946-99A9-B555-591A1809DCE0}"/>
              </a:ext>
            </a:extLst>
          </p:cNvPr>
          <p:cNvSpPr txBox="1"/>
          <p:nvPr/>
        </p:nvSpPr>
        <p:spPr>
          <a:xfrm>
            <a:off x="835471" y="6014396"/>
            <a:ext cx="808321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>
                <a:solidFill>
                  <a:schemeClr val="accent2"/>
                </a:solidFill>
              </a:rPr>
              <a:t>Figure: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TaskOrbit’s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configurable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workflow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from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scenario-specific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agent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setup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 to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company-specific</a:t>
            </a:r>
            <a:r>
              <a:rPr lang="de-DE" sz="160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de-DE" sz="1600" err="1">
                <a:solidFill>
                  <a:schemeClr val="accent1"/>
                </a:solidFill>
                <a:ea typeface="+mn-lt"/>
                <a:cs typeface="+mn-lt"/>
              </a:rPr>
              <a:t>deployment</a:t>
            </a:r>
            <a:endParaRPr lang="de-DE" sz="1600">
              <a:solidFill>
                <a:schemeClr val="accent1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94A7B5-95DA-FE23-12B1-AA00AD39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</p:spTree>
    <p:extLst>
      <p:ext uri="{BB962C8B-B14F-4D97-AF65-F5344CB8AC3E}">
        <p14:creationId xmlns:p14="http://schemas.microsoft.com/office/powerpoint/2010/main" val="260415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EDA98A-460E-1574-51DA-D1FCC612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TaskOrbit</a:t>
            </a:r>
            <a:endParaRPr lang="en-US" noProof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6D90D0-330B-A4F1-4A27-400C473241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err="1"/>
              <a:t>Techstack</a:t>
            </a:r>
            <a:r>
              <a:rPr lang="en-US" noProof="0"/>
              <a:t> &amp; </a:t>
            </a:r>
            <a:r>
              <a:rPr lang="en-US"/>
              <a:t>System Architecture</a:t>
            </a:r>
            <a:endParaRPr lang="en-US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9F8891-B2DA-E681-4C75-DDC3D35053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5471" y="1745223"/>
            <a:ext cx="7943850" cy="5272662"/>
          </a:xfrm>
        </p:spPr>
        <p:txBody>
          <a:bodyPr/>
          <a:lstStyle/>
          <a:p>
            <a:pPr marL="0" indent="0">
              <a:buNone/>
            </a:pPr>
            <a:r>
              <a:rPr lang="en-US" sz="1600" b="1"/>
              <a:t>Modular Architecture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cs typeface="Arial"/>
              </a:rPr>
              <a:t>Provider-based STT, LLM and TTS components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cs typeface="Arial"/>
              </a:rPr>
              <a:t>Config-driven parsing and routing</a:t>
            </a:r>
          </a:p>
          <a:p>
            <a:pPr marL="0" indent="0">
              <a:buNone/>
            </a:pPr>
            <a:r>
              <a:rPr lang="en-US" sz="1600" b="1">
                <a:cs typeface="Arial"/>
              </a:rPr>
              <a:t>Extensible Integrations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cs typeface="Arial"/>
              </a:rPr>
              <a:t>Interchangeable third-party services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cs typeface="Arial"/>
              </a:rPr>
              <a:t>Support for custom providers and workflows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cs typeface="Arial"/>
              </a:rPr>
              <a:t>Self-hosted open-source model inference</a:t>
            </a:r>
          </a:p>
          <a:p>
            <a:pPr marL="0" indent="0">
              <a:buNone/>
            </a:pPr>
            <a:r>
              <a:rPr lang="en-US" sz="1600" b="1">
                <a:cs typeface="Arial"/>
              </a:rPr>
              <a:t>Cloud-Native Backend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cs typeface="Arial"/>
              </a:rPr>
              <a:t>Web-based configuration interface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cs typeface="Arial"/>
              </a:rPr>
              <a:t>Scalable deployment on GCP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cs typeface="Arial"/>
              </a:rPr>
              <a:t>Benchmarking and monitoring support</a:t>
            </a:r>
          </a:p>
          <a:p>
            <a:pPr marL="0" indent="0">
              <a:buNone/>
            </a:pPr>
            <a:r>
              <a:rPr lang="en-US" sz="1600" b="1">
                <a:cs typeface="Arial"/>
              </a:rPr>
              <a:t>Technology Stack</a:t>
            </a:r>
          </a:p>
          <a:p>
            <a:pPr marL="742950" indent="-285750">
              <a:buFont typeface="Courier New" panose="020B0604020202020204" pitchFamily="34" charset="0"/>
              <a:buChar char="o"/>
            </a:pPr>
            <a:r>
              <a:rPr lang="en-US" sz="1600">
                <a:cs typeface="Arial"/>
              </a:rPr>
              <a:t>React, TypeScript, Vite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cs typeface="Arial"/>
              </a:rPr>
              <a:t>Python, FastAPI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 err="1">
                <a:cs typeface="Arial"/>
              </a:rPr>
              <a:t>LiveKit</a:t>
            </a:r>
            <a:r>
              <a:rPr lang="en-US" sz="1600">
                <a:cs typeface="Arial"/>
              </a:rPr>
              <a:t>, </a:t>
            </a:r>
            <a:r>
              <a:rPr lang="en-US" sz="1600" err="1">
                <a:cs typeface="Arial"/>
              </a:rPr>
              <a:t>Deepgram</a:t>
            </a:r>
            <a:r>
              <a:rPr lang="en-US" sz="1600">
                <a:cs typeface="Arial"/>
              </a:rPr>
              <a:t>, </a:t>
            </a:r>
            <a:r>
              <a:rPr lang="en-US" sz="1600" err="1">
                <a:cs typeface="Arial"/>
              </a:rPr>
              <a:t>ElevenLabs</a:t>
            </a:r>
            <a:r>
              <a:rPr lang="en-US" sz="1600">
                <a:cs typeface="Arial"/>
              </a:rPr>
              <a:t>, </a:t>
            </a:r>
            <a:r>
              <a:rPr lang="en-US" sz="1600" err="1">
                <a:cs typeface="Arial"/>
              </a:rPr>
              <a:t>OpenRouter</a:t>
            </a:r>
            <a:endParaRPr lang="en-US" sz="1600">
              <a:cs typeface="Arial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1600">
                <a:cs typeface="Arial"/>
              </a:rPr>
              <a:t>Gemma 4, Qwen 3.6, ChatGPT 4o, Gemini 2.5</a:t>
            </a:r>
            <a:br>
              <a:rPr lang="en-US" sz="1600">
                <a:cs typeface="Arial"/>
              </a:rPr>
            </a:br>
            <a:endParaRPr lang="en-US" sz="1600"/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1600">
              <a:cs typeface="Arial"/>
            </a:endParaRPr>
          </a:p>
        </p:txBody>
      </p:sp>
      <p:sp>
        <p:nvSpPr>
          <p:cNvPr id="6" name="TextBox 54">
            <a:extLst>
              <a:ext uri="{FF2B5EF4-FFF2-40B4-BE49-F238E27FC236}">
                <a16:creationId xmlns:a16="http://schemas.microsoft.com/office/drawing/2014/main" id="{F5F8ED94-F617-6268-F748-EE1E0E55E8E3}"/>
              </a:ext>
            </a:extLst>
          </p:cNvPr>
          <p:cNvSpPr txBox="1"/>
          <p:nvPr/>
        </p:nvSpPr>
        <p:spPr>
          <a:xfrm>
            <a:off x="1032160" y="7158161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>
                <a:solidFill>
                  <a:srgbClr val="2C4385"/>
                </a:solidFill>
                <a:latin typeface="Aptos"/>
              </a:rPr>
              <a:t>TypeScript</a:t>
            </a:r>
          </a:p>
        </p:txBody>
      </p:sp>
      <p:sp>
        <p:nvSpPr>
          <p:cNvPr id="8" name="TextBox 56">
            <a:extLst>
              <a:ext uri="{FF2B5EF4-FFF2-40B4-BE49-F238E27FC236}">
                <a16:creationId xmlns:a16="http://schemas.microsoft.com/office/drawing/2014/main" id="{D4F501AC-DC61-6964-0E77-3B7B1900F42A}"/>
              </a:ext>
            </a:extLst>
          </p:cNvPr>
          <p:cNvSpPr txBox="1"/>
          <p:nvPr/>
        </p:nvSpPr>
        <p:spPr>
          <a:xfrm>
            <a:off x="2385472" y="7158161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>
                <a:solidFill>
                  <a:srgbClr val="2C4385"/>
                </a:solidFill>
                <a:latin typeface="Aptos"/>
              </a:rPr>
              <a:t>React</a:t>
            </a:r>
          </a:p>
        </p:txBody>
      </p:sp>
      <p:sp>
        <p:nvSpPr>
          <p:cNvPr id="10" name="TextBox 58">
            <a:extLst>
              <a:ext uri="{FF2B5EF4-FFF2-40B4-BE49-F238E27FC236}">
                <a16:creationId xmlns:a16="http://schemas.microsoft.com/office/drawing/2014/main" id="{6FBBF9E8-A8A4-A142-FC8D-E6DA66D8E616}"/>
              </a:ext>
            </a:extLst>
          </p:cNvPr>
          <p:cNvSpPr txBox="1"/>
          <p:nvPr/>
        </p:nvSpPr>
        <p:spPr>
          <a:xfrm>
            <a:off x="3704916" y="7158161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>
                <a:solidFill>
                  <a:srgbClr val="2C4385"/>
                </a:solidFill>
                <a:latin typeface="Aptos"/>
              </a:rPr>
              <a:t>Vite</a:t>
            </a:r>
          </a:p>
        </p:txBody>
      </p:sp>
      <p:sp>
        <p:nvSpPr>
          <p:cNvPr id="12" name="TextBox 60">
            <a:extLst>
              <a:ext uri="{FF2B5EF4-FFF2-40B4-BE49-F238E27FC236}">
                <a16:creationId xmlns:a16="http://schemas.microsoft.com/office/drawing/2014/main" id="{3E05CF7F-6322-4D4E-5DCA-E6459B3C8A2A}"/>
              </a:ext>
            </a:extLst>
          </p:cNvPr>
          <p:cNvSpPr txBox="1"/>
          <p:nvPr/>
        </p:nvSpPr>
        <p:spPr>
          <a:xfrm>
            <a:off x="5092096" y="7150075"/>
            <a:ext cx="67390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050" b="1" noProof="0">
                <a:solidFill>
                  <a:srgbClr val="263A70"/>
                </a:solidFill>
                <a:latin typeface="Aptos"/>
              </a:rPr>
              <a:t>Python</a:t>
            </a:r>
          </a:p>
        </p:txBody>
      </p:sp>
      <p:sp>
        <p:nvSpPr>
          <p:cNvPr id="16" name="TextBox 64">
            <a:extLst>
              <a:ext uri="{FF2B5EF4-FFF2-40B4-BE49-F238E27FC236}">
                <a16:creationId xmlns:a16="http://schemas.microsoft.com/office/drawing/2014/main" id="{5E34C16F-FA1F-D2A0-A4B5-C029F86344BF}"/>
              </a:ext>
            </a:extLst>
          </p:cNvPr>
          <p:cNvSpPr txBox="1"/>
          <p:nvPr/>
        </p:nvSpPr>
        <p:spPr>
          <a:xfrm>
            <a:off x="1395102" y="7674358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 err="1">
                <a:solidFill>
                  <a:srgbClr val="2C4385"/>
                </a:solidFill>
                <a:latin typeface="Aptos"/>
              </a:rPr>
              <a:t>ElevenLabs</a:t>
            </a:r>
            <a:endParaRPr lang="en-US" sz="1050" b="1" noProof="0">
              <a:solidFill>
                <a:srgbClr val="2C4385"/>
              </a:solidFill>
              <a:latin typeface="Aptos"/>
            </a:endParaRPr>
          </a:p>
        </p:txBody>
      </p:sp>
      <p:sp>
        <p:nvSpPr>
          <p:cNvPr id="18" name="TextBox 66">
            <a:extLst>
              <a:ext uri="{FF2B5EF4-FFF2-40B4-BE49-F238E27FC236}">
                <a16:creationId xmlns:a16="http://schemas.microsoft.com/office/drawing/2014/main" id="{4EB3E4B1-15FC-34C1-FDD3-935BDD2B30F0}"/>
              </a:ext>
            </a:extLst>
          </p:cNvPr>
          <p:cNvSpPr txBox="1"/>
          <p:nvPr/>
        </p:nvSpPr>
        <p:spPr>
          <a:xfrm>
            <a:off x="2799216" y="7674358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 err="1">
                <a:solidFill>
                  <a:srgbClr val="2C4385"/>
                </a:solidFill>
                <a:latin typeface="Aptos"/>
              </a:rPr>
              <a:t>Deepgram</a:t>
            </a:r>
            <a:endParaRPr lang="en-US" sz="1050" b="1" noProof="0">
              <a:solidFill>
                <a:srgbClr val="2C4385"/>
              </a:solidFill>
              <a:latin typeface="Aptos"/>
            </a:endParaRPr>
          </a:p>
        </p:txBody>
      </p:sp>
      <p:sp>
        <p:nvSpPr>
          <p:cNvPr id="20" name="TextBox 68">
            <a:extLst>
              <a:ext uri="{FF2B5EF4-FFF2-40B4-BE49-F238E27FC236}">
                <a16:creationId xmlns:a16="http://schemas.microsoft.com/office/drawing/2014/main" id="{17871F51-2CA1-C678-A8CE-D1245761EDDA}"/>
              </a:ext>
            </a:extLst>
          </p:cNvPr>
          <p:cNvSpPr txBox="1"/>
          <p:nvPr/>
        </p:nvSpPr>
        <p:spPr>
          <a:xfrm>
            <a:off x="4152528" y="7674358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 err="1">
                <a:solidFill>
                  <a:srgbClr val="2C4385"/>
                </a:solidFill>
                <a:latin typeface="Aptos"/>
              </a:rPr>
              <a:t>LiveKit</a:t>
            </a:r>
            <a:endParaRPr lang="en-US" sz="1050" b="1" noProof="0">
              <a:solidFill>
                <a:srgbClr val="2C4385"/>
              </a:solidFill>
              <a:latin typeface="Aptos"/>
            </a:endParaRPr>
          </a:p>
        </p:txBody>
      </p:sp>
      <p:sp>
        <p:nvSpPr>
          <p:cNvPr id="22" name="TextBox 70">
            <a:extLst>
              <a:ext uri="{FF2B5EF4-FFF2-40B4-BE49-F238E27FC236}">
                <a16:creationId xmlns:a16="http://schemas.microsoft.com/office/drawing/2014/main" id="{8BB091B3-5568-D1AC-15F0-F3E1AA79CED3}"/>
              </a:ext>
            </a:extLst>
          </p:cNvPr>
          <p:cNvSpPr txBox="1"/>
          <p:nvPr/>
        </p:nvSpPr>
        <p:spPr>
          <a:xfrm>
            <a:off x="5505840" y="7674358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>
                <a:solidFill>
                  <a:srgbClr val="2C4385"/>
                </a:solidFill>
                <a:latin typeface="Aptos"/>
              </a:rPr>
              <a:t>GCP</a:t>
            </a:r>
          </a:p>
        </p:txBody>
      </p:sp>
      <p:sp>
        <p:nvSpPr>
          <p:cNvPr id="24" name="TextBox 72">
            <a:extLst>
              <a:ext uri="{FF2B5EF4-FFF2-40B4-BE49-F238E27FC236}">
                <a16:creationId xmlns:a16="http://schemas.microsoft.com/office/drawing/2014/main" id="{8F18C1AC-0D30-B05C-5E20-002F06FFCCF1}"/>
              </a:ext>
            </a:extLst>
          </p:cNvPr>
          <p:cNvSpPr txBox="1"/>
          <p:nvPr/>
        </p:nvSpPr>
        <p:spPr>
          <a:xfrm>
            <a:off x="6729328" y="7674358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 err="1">
                <a:solidFill>
                  <a:srgbClr val="2C4385"/>
                </a:solidFill>
                <a:latin typeface="Aptos"/>
              </a:rPr>
              <a:t>OpenRouter</a:t>
            </a:r>
            <a:endParaRPr lang="en-US" sz="1050" b="1" noProof="0">
              <a:solidFill>
                <a:srgbClr val="2C4385"/>
              </a:solidFill>
              <a:latin typeface="Aptos"/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55734E32-6705-3C1F-6D81-351703756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0500" y="7144109"/>
            <a:ext cx="230400" cy="2304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E9089C98-F983-2A94-BC0A-397D576283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2559" y="7682102"/>
            <a:ext cx="228600" cy="2286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278B8CC8-9BE5-A113-45B3-F9F31EBDCC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9151" y="7682102"/>
            <a:ext cx="228600" cy="2286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4F4C7183-AFF1-5B83-5FE2-7C2998EB14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7868" y="7673699"/>
            <a:ext cx="228600" cy="2286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FDB53895-BBA2-5348-3C13-8C09F095E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3829" y="7682102"/>
            <a:ext cx="228600" cy="2286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07C66624-CBBA-81B4-2939-1750744A16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29299" y="7171877"/>
            <a:ext cx="228600" cy="2286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93FF85CD-958C-D616-829D-3F098AB299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85148" y="7152872"/>
            <a:ext cx="228600" cy="2286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39422A8D-CC65-329B-0D53-330866E8B8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2598" y="7158161"/>
            <a:ext cx="228600" cy="2286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17D6379B-388B-CD49-5883-425D8D6885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4830" y="7669434"/>
            <a:ext cx="228600" cy="228600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6A803DB9-7D4B-EB67-E2E5-079B290BE89E}"/>
              </a:ext>
            </a:extLst>
          </p:cNvPr>
          <p:cNvGrpSpPr/>
          <p:nvPr/>
        </p:nvGrpSpPr>
        <p:grpSpPr>
          <a:xfrm>
            <a:off x="8099774" y="1097477"/>
            <a:ext cx="2179681" cy="5196616"/>
            <a:chOff x="6812280" y="1834289"/>
            <a:chExt cx="2179681" cy="5196616"/>
          </a:xfrm>
        </p:grpSpPr>
        <p:sp>
          <p:nvSpPr>
            <p:cNvPr id="46" name="Down Arrow 73">
              <a:extLst>
                <a:ext uri="{FF2B5EF4-FFF2-40B4-BE49-F238E27FC236}">
                  <a16:creationId xmlns:a16="http://schemas.microsoft.com/office/drawing/2014/main" id="{F3FB20B2-00AE-A41C-1D99-573D8AB10594}"/>
                </a:ext>
              </a:extLst>
            </p:cNvPr>
            <p:cNvSpPr/>
            <p:nvPr/>
          </p:nvSpPr>
          <p:spPr>
            <a:xfrm>
              <a:off x="7761732" y="2801060"/>
              <a:ext cx="310896" cy="182880"/>
            </a:xfrm>
            <a:prstGeom prst="downArrow">
              <a:avLst/>
            </a:prstGeom>
            <a:solidFill>
              <a:srgbClr val="A7D3C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47" name="Down Arrow 76">
              <a:extLst>
                <a:ext uri="{FF2B5EF4-FFF2-40B4-BE49-F238E27FC236}">
                  <a16:creationId xmlns:a16="http://schemas.microsoft.com/office/drawing/2014/main" id="{A345EDCE-117D-2ADE-BED8-6C1D850DD233}"/>
                </a:ext>
              </a:extLst>
            </p:cNvPr>
            <p:cNvSpPr/>
            <p:nvPr/>
          </p:nvSpPr>
          <p:spPr>
            <a:xfrm>
              <a:off x="7761732" y="5342955"/>
              <a:ext cx="310896" cy="182880"/>
            </a:xfrm>
            <a:prstGeom prst="downArrow">
              <a:avLst/>
            </a:prstGeom>
            <a:solidFill>
              <a:srgbClr val="A58BB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48" name="Down Arrow 74">
              <a:extLst>
                <a:ext uri="{FF2B5EF4-FFF2-40B4-BE49-F238E27FC236}">
                  <a16:creationId xmlns:a16="http://schemas.microsoft.com/office/drawing/2014/main" id="{6CEAFC69-8C48-62EF-BA4E-DD89437C8149}"/>
                </a:ext>
              </a:extLst>
            </p:cNvPr>
            <p:cNvSpPr/>
            <p:nvPr/>
          </p:nvSpPr>
          <p:spPr>
            <a:xfrm>
              <a:off x="7761732" y="6184898"/>
              <a:ext cx="310896" cy="183600"/>
            </a:xfrm>
            <a:prstGeom prst="downArrow">
              <a:avLst/>
            </a:prstGeom>
            <a:solidFill>
              <a:srgbClr val="A7D3C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49" name="TextBox 43">
              <a:extLst>
                <a:ext uri="{FF2B5EF4-FFF2-40B4-BE49-F238E27FC236}">
                  <a16:creationId xmlns:a16="http://schemas.microsoft.com/office/drawing/2014/main" id="{F520103E-3951-31D2-D53F-44D5ADE2FCC8}"/>
                </a:ext>
              </a:extLst>
            </p:cNvPr>
            <p:cNvSpPr txBox="1"/>
            <p:nvPr/>
          </p:nvSpPr>
          <p:spPr>
            <a:xfrm>
              <a:off x="6879486" y="1834289"/>
              <a:ext cx="1446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en-US" sz="1400" b="1" noProof="0">
                  <a:solidFill>
                    <a:srgbClr val="F29B80"/>
                  </a:solidFill>
                  <a:latin typeface="Aptos"/>
                </a:rPr>
                <a:t>CORE PIPELINE</a:t>
              </a:r>
            </a:p>
          </p:txBody>
        </p:sp>
        <p:sp>
          <p:nvSpPr>
            <p:cNvPr id="50" name="Rounded Rectangle 44">
              <a:extLst>
                <a:ext uri="{FF2B5EF4-FFF2-40B4-BE49-F238E27FC236}">
                  <a16:creationId xmlns:a16="http://schemas.microsoft.com/office/drawing/2014/main" id="{6D7B2564-A337-AE01-F9AA-D4C340F02DED}"/>
                </a:ext>
              </a:extLst>
            </p:cNvPr>
            <p:cNvSpPr/>
            <p:nvPr/>
          </p:nvSpPr>
          <p:spPr>
            <a:xfrm>
              <a:off x="6812280" y="2148839"/>
              <a:ext cx="2148840" cy="650733"/>
            </a:xfrm>
            <a:prstGeom prst="roundRect">
              <a:avLst/>
            </a:prstGeom>
            <a:solidFill>
              <a:srgbClr val="A58BBB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User Voice Input</a:t>
              </a:r>
            </a:p>
          </p:txBody>
        </p:sp>
        <p:sp>
          <p:nvSpPr>
            <p:cNvPr id="51" name="Rounded Rectangle 46">
              <a:extLst>
                <a:ext uri="{FF2B5EF4-FFF2-40B4-BE49-F238E27FC236}">
                  <a16:creationId xmlns:a16="http://schemas.microsoft.com/office/drawing/2014/main" id="{9A52DA40-81D6-6D81-4705-D15D8371FAD5}"/>
                </a:ext>
              </a:extLst>
            </p:cNvPr>
            <p:cNvSpPr/>
            <p:nvPr/>
          </p:nvSpPr>
          <p:spPr>
            <a:xfrm>
              <a:off x="6821591" y="2991136"/>
              <a:ext cx="2149200" cy="650732"/>
            </a:xfrm>
            <a:prstGeom prst="roundRect">
              <a:avLst/>
            </a:prstGeom>
            <a:solidFill>
              <a:srgbClr val="F29B80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STT-Provider</a:t>
              </a:r>
            </a:p>
          </p:txBody>
        </p:sp>
        <p:sp>
          <p:nvSpPr>
            <p:cNvPr id="52" name="Rounded Rectangle 48">
              <a:extLst>
                <a:ext uri="{FF2B5EF4-FFF2-40B4-BE49-F238E27FC236}">
                  <a16:creationId xmlns:a16="http://schemas.microsoft.com/office/drawing/2014/main" id="{9BBA6B1A-0701-2D8D-BCCB-21D08AAF23CE}"/>
                </a:ext>
              </a:extLst>
            </p:cNvPr>
            <p:cNvSpPr/>
            <p:nvPr/>
          </p:nvSpPr>
          <p:spPr>
            <a:xfrm>
              <a:off x="6842761" y="3838294"/>
              <a:ext cx="2149200" cy="650731"/>
            </a:xfrm>
            <a:prstGeom prst="roundRect">
              <a:avLst/>
            </a:prstGeom>
            <a:solidFill>
              <a:srgbClr val="A7D3C2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Config Parsing &amp; Routing</a:t>
              </a:r>
            </a:p>
          </p:txBody>
        </p:sp>
        <p:sp>
          <p:nvSpPr>
            <p:cNvPr id="53" name="Rounded Rectangle 50">
              <a:extLst>
                <a:ext uri="{FF2B5EF4-FFF2-40B4-BE49-F238E27FC236}">
                  <a16:creationId xmlns:a16="http://schemas.microsoft.com/office/drawing/2014/main" id="{C2B1AC06-6E95-9C1E-612E-6D42DD52CABD}"/>
                </a:ext>
              </a:extLst>
            </p:cNvPr>
            <p:cNvSpPr/>
            <p:nvPr/>
          </p:nvSpPr>
          <p:spPr>
            <a:xfrm>
              <a:off x="6842761" y="4692224"/>
              <a:ext cx="2148839" cy="650730"/>
            </a:xfrm>
            <a:prstGeom prst="roundRect">
              <a:avLst/>
            </a:prstGeom>
            <a:solidFill>
              <a:srgbClr val="A7D3C2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LLM Backend Provider</a:t>
              </a:r>
            </a:p>
          </p:txBody>
        </p:sp>
        <p:sp>
          <p:nvSpPr>
            <p:cNvPr id="54" name="Rounded Rectangle 52">
              <a:extLst>
                <a:ext uri="{FF2B5EF4-FFF2-40B4-BE49-F238E27FC236}">
                  <a16:creationId xmlns:a16="http://schemas.microsoft.com/office/drawing/2014/main" id="{7970A543-A2F5-B3BA-D8F6-AAE3397EAF4F}"/>
                </a:ext>
              </a:extLst>
            </p:cNvPr>
            <p:cNvSpPr/>
            <p:nvPr/>
          </p:nvSpPr>
          <p:spPr>
            <a:xfrm>
              <a:off x="6842760" y="5536200"/>
              <a:ext cx="2149200" cy="650729"/>
            </a:xfrm>
            <a:prstGeom prst="roundRect">
              <a:avLst/>
            </a:prstGeom>
            <a:solidFill>
              <a:srgbClr val="F29B80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TTS-Provider</a:t>
              </a:r>
            </a:p>
          </p:txBody>
        </p:sp>
        <p:sp>
          <p:nvSpPr>
            <p:cNvPr id="55" name="Down Arrow 74">
              <a:extLst>
                <a:ext uri="{FF2B5EF4-FFF2-40B4-BE49-F238E27FC236}">
                  <a16:creationId xmlns:a16="http://schemas.microsoft.com/office/drawing/2014/main" id="{F957E09E-5566-94C0-320D-BBE1227CF128}"/>
                </a:ext>
              </a:extLst>
            </p:cNvPr>
            <p:cNvSpPr/>
            <p:nvPr/>
          </p:nvSpPr>
          <p:spPr>
            <a:xfrm>
              <a:off x="7763733" y="3648641"/>
              <a:ext cx="310896" cy="182880"/>
            </a:xfrm>
            <a:prstGeom prst="downArrow">
              <a:avLst/>
            </a:prstGeom>
            <a:solidFill>
              <a:srgbClr val="A58BB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56" name="Down Arrow 75">
              <a:extLst>
                <a:ext uri="{FF2B5EF4-FFF2-40B4-BE49-F238E27FC236}">
                  <a16:creationId xmlns:a16="http://schemas.microsoft.com/office/drawing/2014/main" id="{1D9AC20C-A451-3EAC-D5FF-65A98A9AB880}"/>
                </a:ext>
              </a:extLst>
            </p:cNvPr>
            <p:cNvSpPr/>
            <p:nvPr/>
          </p:nvSpPr>
          <p:spPr>
            <a:xfrm>
              <a:off x="7761732" y="4495798"/>
              <a:ext cx="310896" cy="182880"/>
            </a:xfrm>
            <a:prstGeom prst="downArrow">
              <a:avLst/>
            </a:prstGeom>
            <a:solidFill>
              <a:srgbClr val="F29B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57" name="Rounded Rectangle 50">
              <a:extLst>
                <a:ext uri="{FF2B5EF4-FFF2-40B4-BE49-F238E27FC236}">
                  <a16:creationId xmlns:a16="http://schemas.microsoft.com/office/drawing/2014/main" id="{B455962D-439D-AC1B-2AC8-8B065FFEC541}"/>
                </a:ext>
              </a:extLst>
            </p:cNvPr>
            <p:cNvSpPr/>
            <p:nvPr/>
          </p:nvSpPr>
          <p:spPr>
            <a:xfrm>
              <a:off x="6821592" y="6380175"/>
              <a:ext cx="2148839" cy="650730"/>
            </a:xfrm>
            <a:prstGeom prst="roundRect">
              <a:avLst/>
            </a:prstGeom>
            <a:solidFill>
              <a:srgbClr val="A58BBB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Agent Voice Output</a:t>
              </a:r>
            </a:p>
          </p:txBody>
        </p:sp>
      </p:grp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D5F95E-2B84-79DC-1394-EE650D70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EC2B0B7-D73D-39CD-EBF3-91FBE189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4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B567B10-4127-7A35-CA0D-36862B38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AMOS Project: TaskOrbit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A66FC69-500F-B001-60EF-4F9CBAAB8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73200" y="7150075"/>
            <a:ext cx="228600" cy="228600"/>
          </a:xfrm>
          <a:prstGeom prst="rect">
            <a:avLst/>
          </a:prstGeom>
        </p:spPr>
      </p:pic>
      <p:sp>
        <p:nvSpPr>
          <p:cNvPr id="14" name="TextBox 60">
            <a:extLst>
              <a:ext uri="{FF2B5EF4-FFF2-40B4-BE49-F238E27FC236}">
                <a16:creationId xmlns:a16="http://schemas.microsoft.com/office/drawing/2014/main" id="{07D3B1DA-9EC6-523C-141C-21848556E9B0}"/>
              </a:ext>
            </a:extLst>
          </p:cNvPr>
          <p:cNvSpPr txBox="1"/>
          <p:nvPr/>
        </p:nvSpPr>
        <p:spPr>
          <a:xfrm>
            <a:off x="6529968" y="7144109"/>
            <a:ext cx="67390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050" b="1" noProof="0" dirty="0" err="1">
                <a:solidFill>
                  <a:srgbClr val="263A70"/>
                </a:solidFill>
                <a:latin typeface="Aptos"/>
              </a:rPr>
              <a:t>FastAPI</a:t>
            </a:r>
            <a:endParaRPr lang="en-US" sz="1050" b="1" noProof="0" dirty="0">
              <a:solidFill>
                <a:srgbClr val="263A7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3570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FFD820-8C92-E59E-533A-1EF9FDB2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llipse 31">
            <a:extLst>
              <a:ext uri="{FF2B5EF4-FFF2-40B4-BE49-F238E27FC236}">
                <a16:creationId xmlns:a16="http://schemas.microsoft.com/office/drawing/2014/main" id="{5A76A17F-65BE-680E-DF3B-BDB6A5ED3C4D}"/>
              </a:ext>
            </a:extLst>
          </p:cNvPr>
          <p:cNvSpPr/>
          <p:nvPr/>
        </p:nvSpPr>
        <p:spPr>
          <a:xfrm>
            <a:off x="89663" y="178622"/>
            <a:ext cx="938274" cy="938274"/>
          </a:xfrm>
          <a:prstGeom prst="ellipse">
            <a:avLst/>
          </a:prstGeom>
          <a:solidFill>
            <a:srgbClr val="A7D3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9E36C96A-BE17-293E-2233-C38946019F70}"/>
              </a:ext>
            </a:extLst>
          </p:cNvPr>
          <p:cNvGrpSpPr/>
          <p:nvPr/>
        </p:nvGrpSpPr>
        <p:grpSpPr>
          <a:xfrm>
            <a:off x="9776710" y="-978922"/>
            <a:ext cx="4489195" cy="8869874"/>
            <a:chOff x="8481310" y="-978922"/>
            <a:chExt cx="4489195" cy="8869874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4D4BEAF-7151-7282-B561-000CFC03804B}"/>
                </a:ext>
              </a:extLst>
            </p:cNvPr>
            <p:cNvSpPr/>
            <p:nvPr userDrawn="1"/>
          </p:nvSpPr>
          <p:spPr>
            <a:xfrm>
              <a:off x="10789157" y="-227162"/>
              <a:ext cx="938274" cy="938274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791E676A-BBD0-EF00-DF15-1BFE8E78E1FB}"/>
                </a:ext>
              </a:extLst>
            </p:cNvPr>
            <p:cNvSpPr/>
            <p:nvPr userDrawn="1"/>
          </p:nvSpPr>
          <p:spPr>
            <a:xfrm>
              <a:off x="11443463" y="1408131"/>
              <a:ext cx="938274" cy="938274"/>
            </a:xfrm>
            <a:prstGeom prst="ellipse">
              <a:avLst/>
            </a:prstGeom>
            <a:solidFill>
              <a:srgbClr val="A58BBB"/>
            </a:solidFill>
            <a:ln w="25400">
              <a:solidFill>
                <a:srgbClr val="263A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276953C-2F15-D234-3DB3-D419D7F20AD0}"/>
                </a:ext>
              </a:extLst>
            </p:cNvPr>
            <p:cNvSpPr/>
            <p:nvPr userDrawn="1"/>
          </p:nvSpPr>
          <p:spPr>
            <a:xfrm>
              <a:off x="12000482" y="2980879"/>
              <a:ext cx="938274" cy="938274"/>
            </a:xfrm>
            <a:prstGeom prst="ellipse">
              <a:avLst/>
            </a:prstGeom>
            <a:solidFill>
              <a:srgbClr val="A7D3C2"/>
            </a:solidFill>
            <a:ln w="25400">
              <a:solidFill>
                <a:srgbClr val="263A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A3E9BD75-5505-DB73-2AB6-EA6C63FACF6E}"/>
                </a:ext>
              </a:extLst>
            </p:cNvPr>
            <p:cNvSpPr/>
            <p:nvPr userDrawn="1"/>
          </p:nvSpPr>
          <p:spPr>
            <a:xfrm>
              <a:off x="11541760" y="4508585"/>
              <a:ext cx="938274" cy="938274"/>
            </a:xfrm>
            <a:prstGeom prst="ellipse">
              <a:avLst/>
            </a:prstGeom>
            <a:solidFill>
              <a:srgbClr val="F29B80"/>
            </a:solidFill>
            <a:ln w="25400">
              <a:solidFill>
                <a:srgbClr val="263A7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948F7E5C-9B9D-BE8A-9415-9EE18081F05D}"/>
                </a:ext>
              </a:extLst>
            </p:cNvPr>
            <p:cNvSpPr/>
            <p:nvPr userDrawn="1"/>
          </p:nvSpPr>
          <p:spPr>
            <a:xfrm>
              <a:off x="11093957" y="6126373"/>
              <a:ext cx="938274" cy="938274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D71A67DA-7DCA-A9A2-F45A-86C35A4C2757}"/>
                </a:ext>
              </a:extLst>
            </p:cNvPr>
            <p:cNvSpPr/>
            <p:nvPr userDrawn="1"/>
          </p:nvSpPr>
          <p:spPr>
            <a:xfrm>
              <a:off x="10340336" y="952931"/>
              <a:ext cx="655320" cy="655320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F6F8CC7A-FB1C-D712-6E93-C2881870E7DA}"/>
                </a:ext>
              </a:extLst>
            </p:cNvPr>
            <p:cNvSpPr/>
            <p:nvPr userDrawn="1"/>
          </p:nvSpPr>
          <p:spPr>
            <a:xfrm>
              <a:off x="11164059" y="2415640"/>
              <a:ext cx="655320" cy="655320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2D2E8C02-0936-6159-6228-83BC59C9A8D8}"/>
                </a:ext>
              </a:extLst>
            </p:cNvPr>
            <p:cNvSpPr/>
            <p:nvPr userDrawn="1"/>
          </p:nvSpPr>
          <p:spPr>
            <a:xfrm>
              <a:off x="11164059" y="3829070"/>
              <a:ext cx="655320" cy="655320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2C6415DD-8EEB-0A4A-5A17-F06A62983E49}"/>
                </a:ext>
              </a:extLst>
            </p:cNvPr>
            <p:cNvSpPr/>
            <p:nvPr userDrawn="1"/>
          </p:nvSpPr>
          <p:spPr>
            <a:xfrm>
              <a:off x="10438637" y="5323563"/>
              <a:ext cx="655320" cy="655320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A4AC3421-7F8A-FB85-58CA-8E6C90C9187A}"/>
                </a:ext>
              </a:extLst>
            </p:cNvPr>
            <p:cNvSpPr/>
            <p:nvPr userDrawn="1"/>
          </p:nvSpPr>
          <p:spPr>
            <a:xfrm>
              <a:off x="9952734" y="7003897"/>
              <a:ext cx="655320" cy="655320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CEF850D3-90CA-75B2-5FC8-FD4BEF67AB42}"/>
                </a:ext>
              </a:extLst>
            </p:cNvPr>
            <p:cNvSpPr/>
            <p:nvPr userDrawn="1"/>
          </p:nvSpPr>
          <p:spPr>
            <a:xfrm>
              <a:off x="9965434" y="-554822"/>
              <a:ext cx="655320" cy="655320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5AF571A4-4023-ED3B-FBBA-751B3E60DC50}"/>
                </a:ext>
              </a:extLst>
            </p:cNvPr>
            <p:cNvSpPr/>
            <p:nvPr userDrawn="1"/>
          </p:nvSpPr>
          <p:spPr>
            <a:xfrm>
              <a:off x="9321543" y="100498"/>
              <a:ext cx="475488" cy="475488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DF70A316-57B6-ACBA-AD23-47A8F94CCFD0}"/>
                </a:ext>
              </a:extLst>
            </p:cNvPr>
            <p:cNvSpPr/>
            <p:nvPr userDrawn="1"/>
          </p:nvSpPr>
          <p:spPr>
            <a:xfrm>
              <a:off x="9963149" y="1639524"/>
              <a:ext cx="475488" cy="475488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973D68C7-560E-1646-6BC2-486A0E41B888}"/>
                </a:ext>
              </a:extLst>
            </p:cNvPr>
            <p:cNvSpPr/>
            <p:nvPr userDrawn="1"/>
          </p:nvSpPr>
          <p:spPr>
            <a:xfrm>
              <a:off x="10061446" y="4547444"/>
              <a:ext cx="475488" cy="475488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C99444CC-838C-EBA6-470B-2C18CB16A773}"/>
                </a:ext>
              </a:extLst>
            </p:cNvPr>
            <p:cNvSpPr/>
            <p:nvPr userDrawn="1"/>
          </p:nvSpPr>
          <p:spPr>
            <a:xfrm>
              <a:off x="9528299" y="6207185"/>
              <a:ext cx="475488" cy="475488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CD8F3D0C-63B1-B120-40EA-93DAD956441C}"/>
                </a:ext>
              </a:extLst>
            </p:cNvPr>
            <p:cNvSpPr/>
            <p:nvPr userDrawn="1"/>
          </p:nvSpPr>
          <p:spPr>
            <a:xfrm>
              <a:off x="9308843" y="7415464"/>
              <a:ext cx="475488" cy="475488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49C02BEB-1496-1665-62D0-44055D1A7C68}"/>
                </a:ext>
              </a:extLst>
            </p:cNvPr>
            <p:cNvSpPr/>
            <p:nvPr userDrawn="1"/>
          </p:nvSpPr>
          <p:spPr>
            <a:xfrm>
              <a:off x="9321543" y="-978922"/>
              <a:ext cx="475488" cy="475488"/>
            </a:xfrm>
            <a:prstGeom prst="ellipse">
              <a:avLst/>
            </a:prstGeom>
            <a:solidFill>
              <a:srgbClr val="A58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2B33215C-143B-E810-7045-5BA60A4FDD49}"/>
                </a:ext>
              </a:extLst>
            </p:cNvPr>
            <p:cNvSpPr/>
            <p:nvPr userDrawn="1"/>
          </p:nvSpPr>
          <p:spPr>
            <a:xfrm>
              <a:off x="12032231" y="-209657"/>
              <a:ext cx="938274" cy="938274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8F1A7981-307E-3246-F902-3191EA183499}"/>
                </a:ext>
              </a:extLst>
            </p:cNvPr>
            <p:cNvSpPr/>
            <p:nvPr userDrawn="1"/>
          </p:nvSpPr>
          <p:spPr>
            <a:xfrm>
              <a:off x="8731754" y="6682673"/>
              <a:ext cx="475488" cy="475488"/>
            </a:xfrm>
            <a:prstGeom prst="ellipse">
              <a:avLst/>
            </a:prstGeom>
            <a:solidFill>
              <a:srgbClr val="F29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7A357FEC-3C7E-B4E0-EFAC-7A9D74DAA745}"/>
                </a:ext>
              </a:extLst>
            </p:cNvPr>
            <p:cNvSpPr/>
            <p:nvPr userDrawn="1"/>
          </p:nvSpPr>
          <p:spPr>
            <a:xfrm>
              <a:off x="8481310" y="-374990"/>
              <a:ext cx="475488" cy="475488"/>
            </a:xfrm>
            <a:prstGeom prst="ellipse">
              <a:avLst/>
            </a:prstGeom>
            <a:solidFill>
              <a:srgbClr val="A7D3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0495C1AF-9C50-55B0-D266-0F7505E4B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322" y="2524612"/>
            <a:ext cx="1600494" cy="16004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929E4D-36F4-679D-6D98-3956171D668A}"/>
              </a:ext>
            </a:extLst>
          </p:cNvPr>
          <p:cNvSpPr txBox="1"/>
          <p:nvPr/>
        </p:nvSpPr>
        <p:spPr>
          <a:xfrm>
            <a:off x="866643" y="684289"/>
            <a:ext cx="58064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3600" b="1" noProof="0" err="1">
                <a:solidFill>
                  <a:srgbClr val="263A70"/>
                </a:solidFill>
                <a:latin typeface="Aptos"/>
              </a:rPr>
              <a:t>TaskOrbit</a:t>
            </a:r>
            <a:endParaRPr lang="en-US" sz="3600" b="1" noProof="0">
              <a:solidFill>
                <a:srgbClr val="263A70"/>
              </a:solidFill>
              <a:latin typeface="Ap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CF2BF-86B2-94AD-E1D0-533756FE65CC}"/>
              </a:ext>
            </a:extLst>
          </p:cNvPr>
          <p:cNvSpPr txBox="1"/>
          <p:nvPr/>
        </p:nvSpPr>
        <p:spPr>
          <a:xfrm>
            <a:off x="835471" y="1316736"/>
            <a:ext cx="5349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600" b="1" noProof="0">
                <a:solidFill>
                  <a:srgbClr val="FF9B7E"/>
                </a:solidFill>
                <a:latin typeface="Aptos"/>
              </a:rPr>
              <a:t>VOICE WORKFLOW ORCHESTRATION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16263-6AF8-340F-9330-12343E4CDB05}"/>
              </a:ext>
            </a:extLst>
          </p:cNvPr>
          <p:cNvSpPr txBox="1"/>
          <p:nvPr/>
        </p:nvSpPr>
        <p:spPr>
          <a:xfrm>
            <a:off x="835470" y="1673352"/>
            <a:ext cx="6058623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b="0" noProof="0" err="1">
                <a:solidFill>
                  <a:srgbClr val="263A70"/>
                </a:solidFill>
                <a:latin typeface="Aptos"/>
              </a:rPr>
              <a:t>TaskOrbit</a:t>
            </a:r>
            <a:r>
              <a:rPr lang="en-US" b="0" noProof="0">
                <a:solidFill>
                  <a:srgbClr val="263A70"/>
                </a:solidFill>
                <a:latin typeface="Aptos"/>
              </a:rPr>
              <a:t> turns individual scenario agents into deployable, end-to-end voice multi-agent workflows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A36E4-7D1A-C6C4-2485-5871326A3B2F}"/>
              </a:ext>
            </a:extLst>
          </p:cNvPr>
          <p:cNvSpPr txBox="1"/>
          <p:nvPr/>
        </p:nvSpPr>
        <p:spPr>
          <a:xfrm>
            <a:off x="834639" y="3013078"/>
            <a:ext cx="6633972" cy="1518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noProof="0">
                <a:solidFill>
                  <a:srgbClr val="263A70"/>
                </a:solidFill>
              </a:rPr>
              <a:t>A technology foundation for company-specific processes — not a one-size-fits-all solution.</a:t>
            </a:r>
          </a:p>
          <a:p>
            <a:endParaRPr lang="en-US" sz="1200" noProof="0">
              <a:solidFill>
                <a:srgbClr val="263A70"/>
              </a:solidFill>
            </a:endParaRPr>
          </a:p>
          <a:p>
            <a:pPr algn="l">
              <a:spcAft>
                <a:spcPts val="400"/>
              </a:spcAft>
            </a:pPr>
            <a:r>
              <a:rPr lang="en-US" sz="1600" noProof="0">
                <a:solidFill>
                  <a:srgbClr val="263A70"/>
                </a:solidFill>
                <a:latin typeface="Aptos"/>
              </a:rPr>
              <a:t>•  Build and deploy reusable scenario agents</a:t>
            </a:r>
          </a:p>
          <a:p>
            <a:pPr algn="l">
              <a:spcAft>
                <a:spcPts val="400"/>
              </a:spcAft>
            </a:pPr>
            <a:r>
              <a:rPr lang="en-US" sz="1600" noProof="0">
                <a:solidFill>
                  <a:srgbClr val="263A70"/>
                </a:solidFill>
                <a:latin typeface="Aptos"/>
              </a:rPr>
              <a:t>•  Compose agents into cross-scenario workflows</a:t>
            </a:r>
          </a:p>
          <a:p>
            <a:pPr algn="l">
              <a:spcAft>
                <a:spcPts val="400"/>
              </a:spcAft>
            </a:pPr>
            <a:r>
              <a:rPr lang="en-US" sz="1600" noProof="0">
                <a:solidFill>
                  <a:srgbClr val="263A70"/>
                </a:solidFill>
                <a:latin typeface="Aptos"/>
              </a:rPr>
              <a:t>•  Automate interactions from speech input to spoken response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6D024-1081-F318-9BFB-9D4851608502}"/>
              </a:ext>
            </a:extLst>
          </p:cNvPr>
          <p:cNvSpPr txBox="1"/>
          <p:nvPr/>
        </p:nvSpPr>
        <p:spPr>
          <a:xfrm>
            <a:off x="835471" y="4828032"/>
            <a:ext cx="5349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600" b="1" noProof="0">
                <a:solidFill>
                  <a:srgbClr val="FF9B7E"/>
                </a:solidFill>
                <a:latin typeface="Aptos"/>
              </a:rPr>
              <a:t>PROJECT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C1FDE-43A2-87CB-436A-502C2E3302CB}"/>
              </a:ext>
            </a:extLst>
          </p:cNvPr>
          <p:cNvSpPr txBox="1"/>
          <p:nvPr/>
        </p:nvSpPr>
        <p:spPr>
          <a:xfrm>
            <a:off x="835470" y="5193792"/>
            <a:ext cx="6941284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600" noProof="0">
                <a:solidFill>
                  <a:srgbClr val="263A70"/>
                </a:solidFill>
                <a:latin typeface="Aptos"/>
              </a:rPr>
              <a:t>•  Agent runtime and workflow execution</a:t>
            </a:r>
          </a:p>
          <a:p>
            <a:pPr algn="l">
              <a:spcAft>
                <a:spcPts val="300"/>
              </a:spcAft>
            </a:pPr>
            <a:r>
              <a:rPr lang="en-US" sz="1600" noProof="0">
                <a:solidFill>
                  <a:srgbClr val="263A70"/>
                </a:solidFill>
                <a:latin typeface="Aptos"/>
              </a:rPr>
              <a:t>•  Benchmarking for custom workflows</a:t>
            </a:r>
          </a:p>
          <a:p>
            <a:pPr algn="l">
              <a:spcAft>
                <a:spcPts val="300"/>
              </a:spcAft>
            </a:pPr>
            <a:r>
              <a:rPr lang="en-US" sz="1600" noProof="0">
                <a:solidFill>
                  <a:srgbClr val="263A70"/>
                </a:solidFill>
                <a:latin typeface="Aptos"/>
              </a:rPr>
              <a:t>•  Basic tools: end calls, forwarding and external data references</a:t>
            </a:r>
          </a:p>
          <a:p>
            <a:pPr algn="l">
              <a:spcAft>
                <a:spcPts val="300"/>
              </a:spcAft>
            </a:pPr>
            <a:r>
              <a:rPr lang="en-US" sz="1600" noProof="0">
                <a:solidFill>
                  <a:srgbClr val="263A70"/>
                </a:solidFill>
                <a:latin typeface="Aptos"/>
              </a:rPr>
              <a:t>•  Flexible inference: External, self-hosted open-source models or </a:t>
            </a:r>
            <a:r>
              <a:rPr lang="en-US" sz="1600" noProof="0" err="1">
                <a:solidFill>
                  <a:srgbClr val="263A70"/>
                </a:solidFill>
                <a:latin typeface="Aptos"/>
              </a:rPr>
              <a:t>OpenRouter</a:t>
            </a:r>
            <a:endParaRPr lang="en-US" sz="1600" noProof="0">
              <a:solidFill>
                <a:srgbClr val="263A70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993F09-7CAE-AF1B-88E4-927417D88951}"/>
              </a:ext>
            </a:extLst>
          </p:cNvPr>
          <p:cNvSpPr txBox="1"/>
          <p:nvPr/>
        </p:nvSpPr>
        <p:spPr>
          <a:xfrm>
            <a:off x="835471" y="2578608"/>
            <a:ext cx="53949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b="1" noProof="0">
                <a:solidFill>
                  <a:srgbClr val="FF9B7E"/>
                </a:solidFill>
                <a:latin typeface="Aptos"/>
              </a:rPr>
              <a:t>VALUE PROPOSITION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DBB1F2-8CC6-F2CE-7F64-6FB84C12839A}"/>
              </a:ext>
            </a:extLst>
          </p:cNvPr>
          <p:cNvSpPr txBox="1"/>
          <p:nvPr/>
        </p:nvSpPr>
        <p:spPr>
          <a:xfrm>
            <a:off x="1032160" y="7158161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>
                <a:solidFill>
                  <a:srgbClr val="2C4385"/>
                </a:solidFill>
                <a:latin typeface="Aptos"/>
              </a:rPr>
              <a:t>TypeScript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F06692-5939-7284-6D49-019CD917C8E9}"/>
              </a:ext>
            </a:extLst>
          </p:cNvPr>
          <p:cNvSpPr txBox="1"/>
          <p:nvPr/>
        </p:nvSpPr>
        <p:spPr>
          <a:xfrm>
            <a:off x="2385472" y="7158161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>
                <a:solidFill>
                  <a:srgbClr val="2C4385"/>
                </a:solidFill>
                <a:latin typeface="Aptos"/>
              </a:rPr>
              <a:t>React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5C4A5D-B9BB-188F-F983-F1578ED6167C}"/>
              </a:ext>
            </a:extLst>
          </p:cNvPr>
          <p:cNvSpPr txBox="1"/>
          <p:nvPr/>
        </p:nvSpPr>
        <p:spPr>
          <a:xfrm>
            <a:off x="3704916" y="7158161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>
                <a:solidFill>
                  <a:srgbClr val="2C4385"/>
                </a:solidFill>
                <a:latin typeface="Aptos"/>
              </a:rPr>
              <a:t>Vite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36F690-6474-10C4-19B6-DF5358EA273E}"/>
              </a:ext>
            </a:extLst>
          </p:cNvPr>
          <p:cNvSpPr txBox="1"/>
          <p:nvPr/>
        </p:nvSpPr>
        <p:spPr>
          <a:xfrm>
            <a:off x="5092096" y="7150075"/>
            <a:ext cx="673904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050" b="1" noProof="0">
                <a:solidFill>
                  <a:srgbClr val="263A70"/>
                </a:solidFill>
                <a:latin typeface="Aptos"/>
              </a:rPr>
              <a:t>Python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E90443-AE3C-1917-D5F9-A341C63382A3}"/>
              </a:ext>
            </a:extLst>
          </p:cNvPr>
          <p:cNvSpPr txBox="1"/>
          <p:nvPr/>
        </p:nvSpPr>
        <p:spPr>
          <a:xfrm>
            <a:off x="6326873" y="7158161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>
                <a:solidFill>
                  <a:srgbClr val="2C4385"/>
                </a:solidFill>
                <a:latin typeface="Aptos"/>
              </a:rPr>
              <a:t>Node.js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707321-85D3-7215-CCF9-4B51F79EDEAC}"/>
              </a:ext>
            </a:extLst>
          </p:cNvPr>
          <p:cNvSpPr txBox="1"/>
          <p:nvPr/>
        </p:nvSpPr>
        <p:spPr>
          <a:xfrm>
            <a:off x="1395102" y="7674358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 err="1">
                <a:solidFill>
                  <a:srgbClr val="2C4385"/>
                </a:solidFill>
                <a:latin typeface="Aptos"/>
              </a:rPr>
              <a:t>ElevenLabs</a:t>
            </a:r>
            <a:endParaRPr lang="en-US" sz="1050" b="1" noProof="0">
              <a:solidFill>
                <a:srgbClr val="2C4385"/>
              </a:solidFill>
              <a:latin typeface="Apto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F89D969-BD50-35F1-644B-8DC3E07A4E6D}"/>
              </a:ext>
            </a:extLst>
          </p:cNvPr>
          <p:cNvSpPr txBox="1"/>
          <p:nvPr/>
        </p:nvSpPr>
        <p:spPr>
          <a:xfrm>
            <a:off x="2799216" y="7674358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 err="1">
                <a:solidFill>
                  <a:srgbClr val="2C4385"/>
                </a:solidFill>
                <a:latin typeface="Aptos"/>
              </a:rPr>
              <a:t>Deepgram</a:t>
            </a:r>
            <a:endParaRPr lang="en-US" sz="1050" b="1" noProof="0">
              <a:solidFill>
                <a:srgbClr val="2C4385"/>
              </a:solidFill>
              <a:latin typeface="Apto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7E5312-AEAF-AD26-4C46-84B9599FB757}"/>
              </a:ext>
            </a:extLst>
          </p:cNvPr>
          <p:cNvSpPr txBox="1"/>
          <p:nvPr/>
        </p:nvSpPr>
        <p:spPr>
          <a:xfrm>
            <a:off x="4152528" y="7674358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 err="1">
                <a:solidFill>
                  <a:srgbClr val="2C4385"/>
                </a:solidFill>
                <a:latin typeface="Aptos"/>
              </a:rPr>
              <a:t>LiveKit</a:t>
            </a:r>
            <a:endParaRPr lang="en-US" sz="1050" b="1" noProof="0">
              <a:solidFill>
                <a:srgbClr val="2C4385"/>
              </a:solidFill>
              <a:latin typeface="Apto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EEB4725-BE79-5848-391B-980466609032}"/>
              </a:ext>
            </a:extLst>
          </p:cNvPr>
          <p:cNvSpPr txBox="1"/>
          <p:nvPr/>
        </p:nvSpPr>
        <p:spPr>
          <a:xfrm>
            <a:off x="5505840" y="7674358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>
                <a:solidFill>
                  <a:srgbClr val="2C4385"/>
                </a:solidFill>
                <a:latin typeface="Aptos"/>
              </a:rPr>
              <a:t>GCP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FF8FA01-D9AE-EBCE-E1CE-54CE072852E9}"/>
              </a:ext>
            </a:extLst>
          </p:cNvPr>
          <p:cNvSpPr txBox="1"/>
          <p:nvPr/>
        </p:nvSpPr>
        <p:spPr>
          <a:xfrm>
            <a:off x="6808351" y="7674358"/>
            <a:ext cx="102412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050" b="1" noProof="0" err="1">
                <a:solidFill>
                  <a:srgbClr val="2C4385"/>
                </a:solidFill>
                <a:latin typeface="Aptos"/>
              </a:rPr>
              <a:t>OpenRouter</a:t>
            </a:r>
            <a:endParaRPr lang="en-US" sz="1050" b="1" noProof="0">
              <a:solidFill>
                <a:srgbClr val="2C4385"/>
              </a:solidFill>
              <a:latin typeface="Aptos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9E786D6-5597-C377-64DB-806306BF8D4D}"/>
              </a:ext>
            </a:extLst>
          </p:cNvPr>
          <p:cNvGrpSpPr/>
          <p:nvPr/>
        </p:nvGrpSpPr>
        <p:grpSpPr>
          <a:xfrm>
            <a:off x="8099774" y="1097477"/>
            <a:ext cx="2179681" cy="5196616"/>
            <a:chOff x="6812280" y="1834289"/>
            <a:chExt cx="2179681" cy="5196616"/>
          </a:xfrm>
        </p:grpSpPr>
        <p:sp>
          <p:nvSpPr>
            <p:cNvPr id="74" name="Down Arrow 73">
              <a:extLst>
                <a:ext uri="{FF2B5EF4-FFF2-40B4-BE49-F238E27FC236}">
                  <a16:creationId xmlns:a16="http://schemas.microsoft.com/office/drawing/2014/main" id="{BD501709-3D5A-CB72-025E-E1CEC86D753D}"/>
                </a:ext>
              </a:extLst>
            </p:cNvPr>
            <p:cNvSpPr/>
            <p:nvPr/>
          </p:nvSpPr>
          <p:spPr>
            <a:xfrm>
              <a:off x="7761732" y="2801060"/>
              <a:ext cx="310896" cy="182880"/>
            </a:xfrm>
            <a:prstGeom prst="downArrow">
              <a:avLst/>
            </a:prstGeom>
            <a:solidFill>
              <a:srgbClr val="A7D3C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77" name="Down Arrow 76">
              <a:extLst>
                <a:ext uri="{FF2B5EF4-FFF2-40B4-BE49-F238E27FC236}">
                  <a16:creationId xmlns:a16="http://schemas.microsoft.com/office/drawing/2014/main" id="{D858130D-E42A-C98F-FC34-8A9772D83DBD}"/>
                </a:ext>
              </a:extLst>
            </p:cNvPr>
            <p:cNvSpPr/>
            <p:nvPr/>
          </p:nvSpPr>
          <p:spPr>
            <a:xfrm>
              <a:off x="7761732" y="5342955"/>
              <a:ext cx="310896" cy="182880"/>
            </a:xfrm>
            <a:prstGeom prst="downArrow">
              <a:avLst/>
            </a:prstGeom>
            <a:solidFill>
              <a:srgbClr val="A58BB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9" name="Down Arrow 74">
              <a:extLst>
                <a:ext uri="{FF2B5EF4-FFF2-40B4-BE49-F238E27FC236}">
                  <a16:creationId xmlns:a16="http://schemas.microsoft.com/office/drawing/2014/main" id="{A705CFC3-776E-D883-5426-3C9189BBA0AD}"/>
                </a:ext>
              </a:extLst>
            </p:cNvPr>
            <p:cNvSpPr/>
            <p:nvPr/>
          </p:nvSpPr>
          <p:spPr>
            <a:xfrm>
              <a:off x="7761732" y="6184898"/>
              <a:ext cx="310896" cy="183600"/>
            </a:xfrm>
            <a:prstGeom prst="downArrow">
              <a:avLst/>
            </a:prstGeom>
            <a:solidFill>
              <a:srgbClr val="A7D3C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A89138-34E0-9BEF-66DE-14FBDD3B2243}"/>
                </a:ext>
              </a:extLst>
            </p:cNvPr>
            <p:cNvSpPr txBox="1"/>
            <p:nvPr/>
          </p:nvSpPr>
          <p:spPr>
            <a:xfrm>
              <a:off x="6879486" y="1834289"/>
              <a:ext cx="1446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en-US" sz="1400" b="1" noProof="0">
                  <a:solidFill>
                    <a:srgbClr val="F29B80"/>
                  </a:solidFill>
                  <a:latin typeface="Aptos"/>
                </a:rPr>
                <a:t>CORE PIPELINE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F24410B1-915D-68B9-0C99-22119FC9FD21}"/>
                </a:ext>
              </a:extLst>
            </p:cNvPr>
            <p:cNvSpPr/>
            <p:nvPr/>
          </p:nvSpPr>
          <p:spPr>
            <a:xfrm>
              <a:off x="6812280" y="2148839"/>
              <a:ext cx="2148840" cy="650733"/>
            </a:xfrm>
            <a:prstGeom prst="roundRect">
              <a:avLst/>
            </a:prstGeom>
            <a:solidFill>
              <a:srgbClr val="A58BBB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User Voice Input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F88DCC6A-2EB4-76CB-8AC7-E5378AF5F4BC}"/>
                </a:ext>
              </a:extLst>
            </p:cNvPr>
            <p:cNvSpPr/>
            <p:nvPr/>
          </p:nvSpPr>
          <p:spPr>
            <a:xfrm>
              <a:off x="6821591" y="2991136"/>
              <a:ext cx="2149200" cy="650732"/>
            </a:xfrm>
            <a:prstGeom prst="roundRect">
              <a:avLst/>
            </a:prstGeom>
            <a:solidFill>
              <a:srgbClr val="F29B80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STT-Provider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0E084462-1106-6326-6C20-0BA2FC2730D7}"/>
                </a:ext>
              </a:extLst>
            </p:cNvPr>
            <p:cNvSpPr/>
            <p:nvPr/>
          </p:nvSpPr>
          <p:spPr>
            <a:xfrm>
              <a:off x="6842761" y="3838294"/>
              <a:ext cx="2149200" cy="650731"/>
            </a:xfrm>
            <a:prstGeom prst="roundRect">
              <a:avLst/>
            </a:prstGeom>
            <a:solidFill>
              <a:srgbClr val="A7D3C2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Config Parsing &amp; Routing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263A248A-CD2E-DBC1-E979-25F4734A1D83}"/>
                </a:ext>
              </a:extLst>
            </p:cNvPr>
            <p:cNvSpPr/>
            <p:nvPr/>
          </p:nvSpPr>
          <p:spPr>
            <a:xfrm>
              <a:off x="6842761" y="4692224"/>
              <a:ext cx="2148839" cy="650730"/>
            </a:xfrm>
            <a:prstGeom prst="roundRect">
              <a:avLst/>
            </a:prstGeom>
            <a:solidFill>
              <a:srgbClr val="A7D3C2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LLM Backend Provider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DA2576E8-A19B-FFFC-9A48-5DE0D245CC46}"/>
                </a:ext>
              </a:extLst>
            </p:cNvPr>
            <p:cNvSpPr/>
            <p:nvPr/>
          </p:nvSpPr>
          <p:spPr>
            <a:xfrm>
              <a:off x="6842760" y="5536200"/>
              <a:ext cx="2149200" cy="650729"/>
            </a:xfrm>
            <a:prstGeom prst="roundRect">
              <a:avLst/>
            </a:prstGeom>
            <a:solidFill>
              <a:srgbClr val="F29B80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TTS-Provider</a:t>
              </a:r>
            </a:p>
          </p:txBody>
        </p:sp>
        <p:sp>
          <p:nvSpPr>
            <p:cNvPr id="75" name="Down Arrow 74">
              <a:extLst>
                <a:ext uri="{FF2B5EF4-FFF2-40B4-BE49-F238E27FC236}">
                  <a16:creationId xmlns:a16="http://schemas.microsoft.com/office/drawing/2014/main" id="{0AFD7F59-E79B-75E8-195C-14883330B229}"/>
                </a:ext>
              </a:extLst>
            </p:cNvPr>
            <p:cNvSpPr/>
            <p:nvPr/>
          </p:nvSpPr>
          <p:spPr>
            <a:xfrm>
              <a:off x="7763733" y="3648641"/>
              <a:ext cx="310896" cy="182880"/>
            </a:xfrm>
            <a:prstGeom prst="downArrow">
              <a:avLst/>
            </a:prstGeom>
            <a:solidFill>
              <a:srgbClr val="A58BB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76" name="Down Arrow 75">
              <a:extLst>
                <a:ext uri="{FF2B5EF4-FFF2-40B4-BE49-F238E27FC236}">
                  <a16:creationId xmlns:a16="http://schemas.microsoft.com/office/drawing/2014/main" id="{DCBAE416-462A-E258-AB34-8EA1535D297D}"/>
                </a:ext>
              </a:extLst>
            </p:cNvPr>
            <p:cNvSpPr/>
            <p:nvPr/>
          </p:nvSpPr>
          <p:spPr>
            <a:xfrm>
              <a:off x="7761732" y="4495798"/>
              <a:ext cx="310896" cy="182880"/>
            </a:xfrm>
            <a:prstGeom prst="downArrow">
              <a:avLst/>
            </a:prstGeom>
            <a:solidFill>
              <a:srgbClr val="F29B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8" name="Rounded Rectangle 50">
              <a:extLst>
                <a:ext uri="{FF2B5EF4-FFF2-40B4-BE49-F238E27FC236}">
                  <a16:creationId xmlns:a16="http://schemas.microsoft.com/office/drawing/2014/main" id="{7451E560-7A80-26A9-7A9A-C2EFE34D899C}"/>
                </a:ext>
              </a:extLst>
            </p:cNvPr>
            <p:cNvSpPr/>
            <p:nvPr/>
          </p:nvSpPr>
          <p:spPr>
            <a:xfrm>
              <a:off x="6821592" y="6380175"/>
              <a:ext cx="2148839" cy="650730"/>
            </a:xfrm>
            <a:prstGeom prst="roundRect">
              <a:avLst/>
            </a:prstGeom>
            <a:solidFill>
              <a:srgbClr val="A58BBB"/>
            </a:solidFill>
            <a:ln w="19050">
              <a:solidFill>
                <a:srgbClr val="2C43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1200" b="1" noProof="0">
                  <a:solidFill>
                    <a:srgbClr val="2C4385"/>
                  </a:solidFill>
                  <a:latin typeface="Aptos"/>
                </a:rPr>
                <a:t>Agent Voice Output</a:t>
              </a:r>
            </a:p>
          </p:txBody>
        </p:sp>
      </p:grpSp>
      <p:pic>
        <p:nvPicPr>
          <p:cNvPr id="15" name="Picture 2" descr="Neu gegründet: FAU Kompetenzzentrum Lehre - Technische Fakultät">
            <a:extLst>
              <a:ext uri="{FF2B5EF4-FFF2-40B4-BE49-F238E27FC236}">
                <a16:creationId xmlns:a16="http://schemas.microsoft.com/office/drawing/2014/main" id="{FC1101A1-4B55-2552-D3D1-12EE4D126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6198" y="3234089"/>
            <a:ext cx="858412" cy="49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4386BD71-7EFE-7952-1DE0-FC51419C7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4218" y="1600200"/>
            <a:ext cx="824924" cy="60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Grafik 39" descr="The AMOS Project | LinkedIn">
            <a:extLst>
              <a:ext uri="{FF2B5EF4-FFF2-40B4-BE49-F238E27FC236}">
                <a16:creationId xmlns:a16="http://schemas.microsoft.com/office/drawing/2014/main" id="{B6B97372-DD4B-F771-5DBC-B3A0142C1CC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/>
        </p:blipFill>
        <p:spPr>
          <a:xfrm>
            <a:off x="12999695" y="4677263"/>
            <a:ext cx="633497" cy="633497"/>
          </a:xfrm>
          <a:prstGeom prst="rect">
            <a:avLst/>
          </a:prstGeom>
        </p:spPr>
      </p:pic>
      <p:pic>
        <p:nvPicPr>
          <p:cNvPr id="80" name="Grafik 79">
            <a:extLst>
              <a:ext uri="{FF2B5EF4-FFF2-40B4-BE49-F238E27FC236}">
                <a16:creationId xmlns:a16="http://schemas.microsoft.com/office/drawing/2014/main" id="{9DDBBA17-F33E-4909-7AEB-AFD3AC3227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40500" y="7144109"/>
            <a:ext cx="230400" cy="230400"/>
          </a:xfrm>
          <a:prstGeom prst="rect">
            <a:avLst/>
          </a:prstGeom>
        </p:spPr>
      </p:pic>
      <p:pic>
        <p:nvPicPr>
          <p:cNvPr id="82" name="Grafik 81">
            <a:extLst>
              <a:ext uri="{FF2B5EF4-FFF2-40B4-BE49-F238E27FC236}">
                <a16:creationId xmlns:a16="http://schemas.microsoft.com/office/drawing/2014/main" id="{87511C65-DB93-A4CF-EBD6-A2B6CF6E6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1582" y="7682102"/>
            <a:ext cx="228600" cy="228600"/>
          </a:xfrm>
          <a:prstGeom prst="rect">
            <a:avLst/>
          </a:prstGeom>
        </p:spPr>
      </p:pic>
      <p:pic>
        <p:nvPicPr>
          <p:cNvPr id="84" name="Grafik 83">
            <a:extLst>
              <a:ext uri="{FF2B5EF4-FFF2-40B4-BE49-F238E27FC236}">
                <a16:creationId xmlns:a16="http://schemas.microsoft.com/office/drawing/2014/main" id="{9815954A-80C8-8074-17CD-17B18D381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29151" y="7682102"/>
            <a:ext cx="228600" cy="228600"/>
          </a:xfrm>
          <a:prstGeom prst="rect">
            <a:avLst/>
          </a:prstGeom>
        </p:spPr>
      </p:pic>
      <p:pic>
        <p:nvPicPr>
          <p:cNvPr id="86" name="Grafik 85">
            <a:extLst>
              <a:ext uri="{FF2B5EF4-FFF2-40B4-BE49-F238E27FC236}">
                <a16:creationId xmlns:a16="http://schemas.microsoft.com/office/drawing/2014/main" id="{728A0140-456D-2919-DCDB-0E70736B46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7868" y="7673699"/>
            <a:ext cx="228600" cy="228600"/>
          </a:xfrm>
          <a:prstGeom prst="rect">
            <a:avLst/>
          </a:prstGeom>
        </p:spPr>
      </p:pic>
      <p:pic>
        <p:nvPicPr>
          <p:cNvPr id="88" name="Grafik 87">
            <a:extLst>
              <a:ext uri="{FF2B5EF4-FFF2-40B4-BE49-F238E27FC236}">
                <a16:creationId xmlns:a16="http://schemas.microsoft.com/office/drawing/2014/main" id="{7063C986-5BC4-5A86-65C8-EA9172657E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03829" y="7682102"/>
            <a:ext cx="228600" cy="228600"/>
          </a:xfrm>
          <a:prstGeom prst="rect">
            <a:avLst/>
          </a:prstGeom>
        </p:spPr>
      </p:pic>
      <p:pic>
        <p:nvPicPr>
          <p:cNvPr id="90" name="Grafik 89">
            <a:extLst>
              <a:ext uri="{FF2B5EF4-FFF2-40B4-BE49-F238E27FC236}">
                <a16:creationId xmlns:a16="http://schemas.microsoft.com/office/drawing/2014/main" id="{898D5E1F-E927-4B0B-FB56-14B16316F4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29299" y="7171877"/>
            <a:ext cx="228600" cy="228600"/>
          </a:xfrm>
          <a:prstGeom prst="rect">
            <a:avLst/>
          </a:prstGeom>
        </p:spPr>
      </p:pic>
      <p:pic>
        <p:nvPicPr>
          <p:cNvPr id="92" name="Grafik 91">
            <a:extLst>
              <a:ext uri="{FF2B5EF4-FFF2-40B4-BE49-F238E27FC236}">
                <a16:creationId xmlns:a16="http://schemas.microsoft.com/office/drawing/2014/main" id="{82C80392-D46C-83FD-8956-2B0A37502E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85148" y="7152872"/>
            <a:ext cx="228600" cy="228600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1E30ADC9-95DB-4988-6347-46C3B744D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2598" y="7158161"/>
            <a:ext cx="228600" cy="228600"/>
          </a:xfrm>
          <a:prstGeom prst="rect">
            <a:avLst/>
          </a:prstGeom>
        </p:spPr>
      </p:pic>
      <p:pic>
        <p:nvPicPr>
          <p:cNvPr id="100" name="Grafik 99">
            <a:extLst>
              <a:ext uri="{FF2B5EF4-FFF2-40B4-BE49-F238E27FC236}">
                <a16:creationId xmlns:a16="http://schemas.microsoft.com/office/drawing/2014/main" id="{7A23954B-92AC-9060-96A5-CFF82BD64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04830" y="7669434"/>
            <a:ext cx="228600" cy="22860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498BB8C-B676-C9D8-2410-95486C7FC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33368" y="7158161"/>
            <a:ext cx="228600" cy="228600"/>
          </a:xfrm>
          <a:prstGeom prst="rect">
            <a:avLst/>
          </a:prstGeom>
        </p:spPr>
      </p:pic>
      <p:sp>
        <p:nvSpPr>
          <p:cNvPr id="20" name="Datumsplatzhalter 19">
            <a:extLst>
              <a:ext uri="{FF2B5EF4-FFF2-40B4-BE49-F238E27FC236}">
                <a16:creationId xmlns:a16="http://schemas.microsoft.com/office/drawing/2014/main" id="{3AB554C0-98AE-D22B-5B87-B5F231A4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July 15, 2026</a:t>
            </a:r>
          </a:p>
        </p:txBody>
      </p:sp>
      <p:sp>
        <p:nvSpPr>
          <p:cNvPr id="34" name="Foliennummernplatzhalter 33">
            <a:extLst>
              <a:ext uri="{FF2B5EF4-FFF2-40B4-BE49-F238E27FC236}">
                <a16:creationId xmlns:a16="http://schemas.microsoft.com/office/drawing/2014/main" id="{DC552FC1-E765-C382-C015-E3880039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DB73E-C9C0-4A4A-81E2-B84B87D95B7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713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Benutzerdefiniert</PresentationFormat>
  <Paragraphs>91</Paragraphs>
  <Slides>5</Slides>
  <Notes>3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Amazon Ember Display</vt:lpstr>
      <vt:lpstr>Aptos</vt:lpstr>
      <vt:lpstr>Aptos Display</vt:lpstr>
      <vt:lpstr>Arial</vt:lpstr>
      <vt:lpstr>Courier New</vt:lpstr>
      <vt:lpstr>Office</vt:lpstr>
      <vt:lpstr>AMOS Project: TaskOrbit</vt:lpstr>
      <vt:lpstr>TaskOrbit</vt:lpstr>
      <vt:lpstr>TaskOrbit</vt:lpstr>
      <vt:lpstr>TaskOrbit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Jokiel, Rene;carl.mosler@tu-berlin.de</dc:creator>
  <cp:lastModifiedBy>Carl Mosler</cp:lastModifiedBy>
  <cp:revision>5</cp:revision>
  <cp:lastPrinted>2026-07-14T19:07:46Z</cp:lastPrinted>
  <dcterms:created xsi:type="dcterms:W3CDTF">2026-07-01T21:20:23Z</dcterms:created>
  <dcterms:modified xsi:type="dcterms:W3CDTF">2026-07-14T19:10:34Z</dcterms:modified>
</cp:coreProperties>
</file>